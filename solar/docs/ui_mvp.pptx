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Thực tế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>6h</c:v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12h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>18h</c:v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</c:lvl>
              </c:multiLvlStrCache>
            </c:multiLvl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0.8002</c:v>
                </c:pt>
                <c:pt idx="8">
                  <c:v>1.6993</c:v>
                </c:pt>
                <c:pt idx="9">
                  <c:v>2.5664</c:v>
                </c:pt>
                <c:pt idx="10">
                  <c:v>3.4067</c:v>
                </c:pt>
                <c:pt idx="11">
                  <c:v>3.7745</c:v>
                </c:pt>
                <c:pt idx="12">
                  <c:v>3.7697</c:v>
                </c:pt>
                <c:pt idx="13">
                  <c:v>3.6896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Dự báo</c:v>
                </c:pt>
              </c:strCache>
            </c:strRef>
          </c:tx>
          <c:spPr>
            <a:solidFill>
              <a:srgbClr val="9CA3AF"/>
            </a:solidFill>
            <a:ln w="15875" cap="flat">
              <a:solidFill>
                <a:srgbClr val="9CA3AF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9CA3AF"/>
              </a:solidFill>
              <a:ln w="9525" cap="flat">
                <a:solidFill>
                  <a:srgbClr val="9CA3A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Sheet1!$A$2:$A$25</c:f>
              <c:multiLvlStrCache>
                <c:ptCount val="24"/>
                <c:lvl>
                  <c:pt idx="0">
                    <c:v>0h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>6h</c:v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12h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>18h</c:v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</c:lvl>
              </c:multiLvlStrCache>
            </c:multiLvl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0.8002</c:v>
                </c:pt>
                <c:pt idx="8">
                  <c:v>1.6993</c:v>
                </c:pt>
                <c:pt idx="9">
                  <c:v>2.5664</c:v>
                </c:pt>
                <c:pt idx="10">
                  <c:v>3.4067</c:v>
                </c:pt>
                <c:pt idx="11">
                  <c:v>3.7745</c:v>
                </c:pt>
                <c:pt idx="12">
                  <c:v>3.7697</c:v>
                </c:pt>
                <c:pt idx="13">
                  <c:v>3.6896</c:v>
                </c:pt>
                <c:pt idx="14">
                  <c:v>2.8697</c:v>
                </c:pt>
                <c:pt idx="15">
                  <c:v>1.8069</c:v>
                </c:pt>
                <c:pt idx="16">
                  <c:v>1.16</c:v>
                </c:pt>
                <c:pt idx="17">
                  <c:v>0.51</c:v>
                </c:pt>
                <c:pt idx="18">
                  <c:v>0.0307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kWh</c:v>
                </c:pt>
              </c:strCache>
            </c:strRef>
          </c:tx>
          <c:spPr>
            <a:solidFill>
              <a:srgbClr val="9CA3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/>
                  </c:pt>
                  <c:pt idx="1">
                    <c:v>6h</c:v>
                  </c:pt>
                  <c:pt idx="2">
                    <c:v/>
                  </c:pt>
                  <c:pt idx="3">
                    <c:v/>
                  </c:pt>
                  <c:pt idx="4">
                    <c:v>9h</c:v>
                  </c:pt>
                  <c:pt idx="5">
                    <c:v/>
                  </c:pt>
                  <c:pt idx="6">
                    <c:v/>
                  </c:pt>
                  <c:pt idx="7">
                    <c:v>12h</c:v>
                  </c:pt>
                  <c:pt idx="8">
                    <c:v/>
                  </c:pt>
                  <c:pt idx="9">
                    <c:v/>
                  </c:pt>
                  <c:pt idx="10">
                    <c:v>15h</c:v>
                  </c:pt>
                  <c:pt idx="11">
                    <c:v/>
                  </c:pt>
                  <c:pt idx="12">
                    <c:v/>
                  </c:pt>
                  <c:pt idx="13">
                    <c:v>18h</c:v>
                  </c:pt>
                  <c:pt idx="14">
                    <c:v/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0</c:v>
                </c:pt>
                <c:pt idx="1">
                  <c:v>0</c:v>
                </c:pt>
                <c:pt idx="2">
                  <c:v>0.7739</c:v>
                </c:pt>
                <c:pt idx="3">
                  <c:v>1.2643</c:v>
                </c:pt>
                <c:pt idx="4">
                  <c:v>1.1527</c:v>
                </c:pt>
                <c:pt idx="5">
                  <c:v>1.2109</c:v>
                </c:pt>
                <c:pt idx="6">
                  <c:v>1.5001</c:v>
                </c:pt>
                <c:pt idx="7">
                  <c:v>1.4455</c:v>
                </c:pt>
                <c:pt idx="8">
                  <c:v>1.251</c:v>
                </c:pt>
                <c:pt idx="9">
                  <c:v>1.306</c:v>
                </c:pt>
                <c:pt idx="10">
                  <c:v>1.2595</c:v>
                </c:pt>
                <c:pt idx="11">
                  <c:v>0.657</c:v>
                </c:pt>
                <c:pt idx="12">
                  <c:v>0.1486</c:v>
                </c:pt>
                <c:pt idx="13">
                  <c:v>0.0177</c:v>
                </c:pt>
                <c:pt idx="1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2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Nguồn tham khảo (mô tả công khai):
Home Assistant Energy + Forecast.Solar – đường dự báo trên biểu đồ sản lượng: https://www.home-assistant.io/integrations/forecast_solar/
FusionSolar – Plant overview (yield hôm nay, KPI trên cùng, cảnh báo): https://support.huawei.com/enterprise/en/doc/EDOC1100096889/dcc45511/plant-overview
SOLARMAN Smart – real-time overview, sản lượng ngày: https://www.solarmanpv.com/solarman-smart-explained-intelligent-solar-monitoring-made-simple.html
Enphase app – five-day production forecast: https://enphase.com/blog/homeowners/enphase-app-solar-monitoring
PV Solar Forecast (iOS) – dự báo theo giờ 360 giờ, theo ngày 15 ngày: https://apps.apple.com/us/app/pv-solar-forecast/id1496274910
Solcast – thêm rooftop site (vị trí, kWp, azimuth, tilt), estimated actuals: https://www.solarquotes.com.au/blog/solcast-update-2023/
Nhận xét FusionSolar không dùng dự báo thời tiết (đánh giá người dùng): https://www.heavengreenenergy.com/blog/huawei-fusionsolar-design-review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"/>
          <p:cNvSpPr txBox="1"/>
          <p:nvPr/>
        </p:nvSpPr>
        <p:spPr>
          <a:xfrm>
            <a:off x="320040" y="1097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MVP – dự báo điện mặt trời cho chủ nhà</a:t>
            </a:r>
            <a:endParaRPr lang="en-US" sz="1600" dirty="0"/>
          </a:p>
        </p:txBody>
      </p:sp>
      <p:sp>
        <p:nvSpPr>
          <p:cNvPr id="3" name="Home frame"/>
          <p:cNvSpPr/>
          <p:nvPr/>
        </p:nvSpPr>
        <p:spPr>
          <a:xfrm>
            <a:off x="320040" y="749808"/>
            <a:ext cx="1783080" cy="3767328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Home notch"/>
          <p:cNvSpPr/>
          <p:nvPr/>
        </p:nvSpPr>
        <p:spPr>
          <a:xfrm>
            <a:off x="937260" y="804672"/>
            <a:ext cx="548640" cy="91440"/>
          </a:xfrm>
          <a:prstGeom prst="roundRect">
            <a:avLst>
              <a:gd name="adj" fmla="val 50000"/>
            </a:avLst>
          </a:prstGeom>
          <a:solidFill>
            <a:srgbClr val="1F2937"/>
          </a:solidFill>
          <a:ln/>
        </p:spPr>
      </p:sp>
      <p:sp>
        <p:nvSpPr>
          <p:cNvPr id="5" name="t3"/>
          <p:cNvSpPr txBox="1"/>
          <p:nvPr/>
        </p:nvSpPr>
        <p:spPr>
          <a:xfrm>
            <a:off x="484632" y="79552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13:05</a:t>
            </a:r>
            <a:endParaRPr lang="en-US" sz="700" dirty="0"/>
          </a:p>
        </p:txBody>
      </p:sp>
      <p:sp>
        <p:nvSpPr>
          <p:cNvPr id="6" name="rr4"/>
          <p:cNvSpPr/>
          <p:nvPr/>
        </p:nvSpPr>
        <p:spPr>
          <a:xfrm>
            <a:off x="1773936" y="822960"/>
            <a:ext cx="164592" cy="7315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</p:sp>
      <p:sp>
        <p:nvSpPr>
          <p:cNvPr id="7" name="hair5"/>
          <p:cNvSpPr/>
          <p:nvPr/>
        </p:nvSpPr>
        <p:spPr>
          <a:xfrm>
            <a:off x="365760" y="4151376"/>
            <a:ext cx="16916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" name="Home tab icon 0"/>
          <p:cNvSpPr/>
          <p:nvPr/>
        </p:nvSpPr>
        <p:spPr>
          <a:xfrm>
            <a:off x="565785" y="4206240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6"/>
          <p:cNvSpPr txBox="1"/>
          <p:nvPr/>
        </p:nvSpPr>
        <p:spPr>
          <a:xfrm>
            <a:off x="411480" y="4315968"/>
            <a:ext cx="40005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quan</a:t>
            </a:r>
            <a:endParaRPr lang="en-US" sz="600" dirty="0"/>
          </a:p>
        </p:txBody>
      </p:sp>
      <p:sp>
        <p:nvSpPr>
          <p:cNvPr id="10" name="Home tab icon 1"/>
          <p:cNvSpPr/>
          <p:nvPr/>
        </p:nvSpPr>
        <p:spPr>
          <a:xfrm>
            <a:off x="965835" y="4206240"/>
            <a:ext cx="91440" cy="91440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11" name="t7"/>
          <p:cNvSpPr txBox="1"/>
          <p:nvPr/>
        </p:nvSpPr>
        <p:spPr>
          <a:xfrm>
            <a:off x="811530" y="4315968"/>
            <a:ext cx="40005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</a:t>
            </a:r>
            <a:endParaRPr lang="en-US" sz="600" dirty="0"/>
          </a:p>
        </p:txBody>
      </p:sp>
      <p:sp>
        <p:nvSpPr>
          <p:cNvPr id="12" name="Home tab icon 2"/>
          <p:cNvSpPr/>
          <p:nvPr/>
        </p:nvSpPr>
        <p:spPr>
          <a:xfrm>
            <a:off x="1365885" y="4206240"/>
            <a:ext cx="91440" cy="91440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13" name="t8"/>
          <p:cNvSpPr txBox="1"/>
          <p:nvPr/>
        </p:nvSpPr>
        <p:spPr>
          <a:xfrm>
            <a:off x="1211580" y="4315968"/>
            <a:ext cx="40005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bị</a:t>
            </a:r>
            <a:endParaRPr lang="en-US" sz="600" dirty="0"/>
          </a:p>
        </p:txBody>
      </p:sp>
      <p:sp>
        <p:nvSpPr>
          <p:cNvPr id="14" name="Home tab icon 3"/>
          <p:cNvSpPr/>
          <p:nvPr/>
        </p:nvSpPr>
        <p:spPr>
          <a:xfrm>
            <a:off x="1765935" y="4206240"/>
            <a:ext cx="91440" cy="91440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15" name="t9"/>
          <p:cNvSpPr txBox="1"/>
          <p:nvPr/>
        </p:nvSpPr>
        <p:spPr>
          <a:xfrm>
            <a:off x="1611630" y="4315968"/>
            <a:ext cx="40005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Tôi</a:t>
            </a:r>
            <a:endParaRPr lang="en-US" sz="600" dirty="0"/>
          </a:p>
        </p:txBody>
      </p:sp>
      <p:sp>
        <p:nvSpPr>
          <p:cNvPr id="16" name="t10"/>
          <p:cNvSpPr txBox="1"/>
          <p:nvPr/>
        </p:nvSpPr>
        <p:spPr>
          <a:xfrm>
            <a:off x="448056" y="98755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Nhà Q.7  </a:t>
            </a:r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▾</a:t>
            </a:r>
            <a:endParaRPr lang="en-US" sz="800" dirty="0"/>
          </a:p>
        </p:txBody>
      </p:sp>
      <p:sp>
        <p:nvSpPr>
          <p:cNvPr id="17" name="Home bell"/>
          <p:cNvSpPr/>
          <p:nvPr/>
        </p:nvSpPr>
        <p:spPr>
          <a:xfrm>
            <a:off x="1810512" y="1005840"/>
            <a:ext cx="128016" cy="1280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8" name="Home bell dot"/>
          <p:cNvSpPr/>
          <p:nvPr/>
        </p:nvSpPr>
        <p:spPr>
          <a:xfrm>
            <a:off x="1901952" y="987552"/>
            <a:ext cx="54864" cy="5486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9" name="t11"/>
          <p:cNvSpPr txBox="1"/>
          <p:nvPr/>
        </p:nvSpPr>
        <p:spPr>
          <a:xfrm>
            <a:off x="448056" y="1280160"/>
            <a:ext cx="1527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Sản lượng hôm nay</a:t>
            </a:r>
            <a:endParaRPr lang="en-US" sz="700" dirty="0"/>
          </a:p>
        </p:txBody>
      </p:sp>
      <p:sp>
        <p:nvSpPr>
          <p:cNvPr id="20" name="t12"/>
          <p:cNvSpPr txBox="1"/>
          <p:nvPr/>
        </p:nvSpPr>
        <p:spPr>
          <a:xfrm>
            <a:off x="448056" y="1408176"/>
            <a:ext cx="1527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19,7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kWh</a:t>
            </a:r>
            <a:endParaRPr lang="en-US" sz="800" dirty="0"/>
          </a:p>
        </p:txBody>
      </p:sp>
      <p:sp>
        <p:nvSpPr>
          <p:cNvPr id="21" name="t13"/>
          <p:cNvSpPr txBox="1"/>
          <p:nvPr/>
        </p:nvSpPr>
        <p:spPr>
          <a:xfrm>
            <a:off x="448056" y="1783080"/>
            <a:ext cx="1527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Đang phát 3,7 kW</a:t>
            </a:r>
            <a:endParaRPr lang="en-US" sz="700" dirty="0"/>
          </a:p>
        </p:txBody>
      </p:sp>
      <p:sp>
        <p:nvSpPr>
          <p:cNvPr id="22" name="rr14"/>
          <p:cNvSpPr/>
          <p:nvPr/>
        </p:nvSpPr>
        <p:spPr>
          <a:xfrm>
            <a:off x="448056" y="1993392"/>
            <a:ext cx="1527048" cy="182880"/>
          </a:xfrm>
          <a:prstGeom prst="roundRect">
            <a:avLst>
              <a:gd name="adj" fmla="val 25000"/>
            </a:avLst>
          </a:prstGeom>
          <a:solidFill>
            <a:srgbClr val="F3F4F6"/>
          </a:solidFill>
          <a:ln/>
        </p:spPr>
      </p:sp>
      <p:sp>
        <p:nvSpPr>
          <p:cNvPr id="23" name="rr15"/>
          <p:cNvSpPr/>
          <p:nvPr/>
        </p:nvSpPr>
        <p:spPr>
          <a:xfrm>
            <a:off x="466344" y="2011680"/>
            <a:ext cx="345186" cy="14630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t16"/>
          <p:cNvSpPr txBox="1"/>
          <p:nvPr/>
        </p:nvSpPr>
        <p:spPr>
          <a:xfrm>
            <a:off x="448056" y="1993392"/>
            <a:ext cx="3817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Ngày</a:t>
            </a:r>
            <a:endParaRPr lang="en-US" sz="650" dirty="0"/>
          </a:p>
        </p:txBody>
      </p:sp>
      <p:sp>
        <p:nvSpPr>
          <p:cNvPr id="25" name="t17"/>
          <p:cNvSpPr txBox="1"/>
          <p:nvPr/>
        </p:nvSpPr>
        <p:spPr>
          <a:xfrm>
            <a:off x="829818" y="1993392"/>
            <a:ext cx="3817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</a:t>
            </a:r>
            <a:endParaRPr lang="en-US" sz="650" dirty="0"/>
          </a:p>
        </p:txBody>
      </p:sp>
      <p:sp>
        <p:nvSpPr>
          <p:cNvPr id="26" name="t18"/>
          <p:cNvSpPr txBox="1"/>
          <p:nvPr/>
        </p:nvSpPr>
        <p:spPr>
          <a:xfrm>
            <a:off x="1211580" y="1993392"/>
            <a:ext cx="3817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Tháng</a:t>
            </a:r>
            <a:endParaRPr lang="en-US" sz="650" dirty="0"/>
          </a:p>
        </p:txBody>
      </p:sp>
      <p:sp>
        <p:nvSpPr>
          <p:cNvPr id="27" name="t19"/>
          <p:cNvSpPr txBox="1"/>
          <p:nvPr/>
        </p:nvSpPr>
        <p:spPr>
          <a:xfrm>
            <a:off x="1593342" y="1993392"/>
            <a:ext cx="3817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</a:t>
            </a:r>
            <a:endParaRPr lang="en-US" sz="650" dirty="0"/>
          </a:p>
        </p:txBody>
      </p:sp>
      <p:sp>
        <p:nvSpPr>
          <p:cNvPr id="28" name="t20"/>
          <p:cNvSpPr txBox="1"/>
          <p:nvPr/>
        </p:nvSpPr>
        <p:spPr>
          <a:xfrm>
            <a:off x="448056" y="2231136"/>
            <a:ext cx="152704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</a:t>
            </a:r>
            <a:pPr algn="ctr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  Hôm nay, 17/03        </a:t>
            </a:r>
            <a:pPr algn="ctr" indent="0" marL="0">
              <a:buNone/>
            </a:pPr>
            <a:r>
              <a:rPr lang="en-US" sz="75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750" dirty="0"/>
          </a:p>
        </p:txBody>
      </p:sp>
      <p:graphicFrame>
        <p:nvGraphicFramePr>
          <p:cNvPr id="29" name="Home chart" descr=""/>
          <p:cNvGraphicFramePr/>
          <p:nvPr/>
        </p:nvGraphicFramePr>
        <p:xfrm>
          <a:off x="411480" y="2395728"/>
          <a:ext cx="1581912" cy="1097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r21"/>
          <p:cNvSpPr/>
          <p:nvPr/>
        </p:nvSpPr>
        <p:spPr>
          <a:xfrm>
            <a:off x="448056" y="3520440"/>
            <a:ext cx="9144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1" name="t22"/>
          <p:cNvSpPr txBox="1"/>
          <p:nvPr/>
        </p:nvSpPr>
        <p:spPr>
          <a:xfrm>
            <a:off x="566928" y="348386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Đã phát</a:t>
            </a:r>
            <a:endParaRPr lang="en-US" sz="600" dirty="0"/>
          </a:p>
        </p:txBody>
      </p:sp>
      <p:sp>
        <p:nvSpPr>
          <p:cNvPr id="32" name="Home legend fc"/>
          <p:cNvSpPr/>
          <p:nvPr/>
        </p:nvSpPr>
        <p:spPr>
          <a:xfrm>
            <a:off x="1014984" y="3547872"/>
            <a:ext cx="128016" cy="0"/>
          </a:xfrm>
          <a:prstGeom prst="line">
            <a:avLst/>
          </a:prstGeom>
          <a:noFill/>
          <a:ln w="15875">
            <a:solidFill>
              <a:srgbClr val="9CA3AF"/>
            </a:solidFill>
            <a:prstDash val="dash"/>
          </a:ln>
        </p:spPr>
      </p:sp>
      <p:sp>
        <p:nvSpPr>
          <p:cNvPr id="33" name="t23"/>
          <p:cNvSpPr txBox="1"/>
          <p:nvPr/>
        </p:nvSpPr>
        <p:spPr>
          <a:xfrm>
            <a:off x="1179576" y="348386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</a:t>
            </a:r>
            <a:endParaRPr lang="en-US" sz="600" dirty="0"/>
          </a:p>
        </p:txBody>
      </p:sp>
      <p:sp>
        <p:nvSpPr>
          <p:cNvPr id="34" name="hair24"/>
          <p:cNvSpPr/>
          <p:nvPr/>
        </p:nvSpPr>
        <p:spPr>
          <a:xfrm>
            <a:off x="448056" y="3675888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5" name="t25"/>
          <p:cNvSpPr txBox="1"/>
          <p:nvPr/>
        </p:nvSpPr>
        <p:spPr>
          <a:xfrm>
            <a:off x="448056" y="36941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lại hôm nay (dự báo)</a:t>
            </a:r>
            <a:endParaRPr lang="en-US" sz="700" dirty="0"/>
          </a:p>
        </p:txBody>
      </p:sp>
      <p:sp>
        <p:nvSpPr>
          <p:cNvPr id="36" name="t26"/>
          <p:cNvSpPr txBox="1"/>
          <p:nvPr/>
        </p:nvSpPr>
        <p:spPr>
          <a:xfrm>
            <a:off x="1362456" y="3694176"/>
            <a:ext cx="612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+6,4 kWh</a:t>
            </a:r>
            <a:endParaRPr lang="en-US" sz="700" dirty="0"/>
          </a:p>
        </p:txBody>
      </p:sp>
      <p:sp>
        <p:nvSpPr>
          <p:cNvPr id="37" name="hair27"/>
          <p:cNvSpPr/>
          <p:nvPr/>
        </p:nvSpPr>
        <p:spPr>
          <a:xfrm>
            <a:off x="448056" y="3895344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38" name="t28"/>
          <p:cNvSpPr txBox="1"/>
          <p:nvPr/>
        </p:nvSpPr>
        <p:spPr>
          <a:xfrm>
            <a:off x="448056" y="390448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Ngày mai</a:t>
            </a:r>
            <a:endParaRPr lang="en-US" sz="700" dirty="0"/>
          </a:p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mây</a:t>
            </a:r>
            <a:endParaRPr lang="en-US" sz="700" dirty="0"/>
          </a:p>
        </p:txBody>
      </p:sp>
      <p:sp>
        <p:nvSpPr>
          <p:cNvPr id="39" name="t29"/>
          <p:cNvSpPr txBox="1"/>
          <p:nvPr/>
        </p:nvSpPr>
        <p:spPr>
          <a:xfrm>
            <a:off x="1271016" y="3904488"/>
            <a:ext cx="704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 kWh  ›</a:t>
            </a:r>
            <a:endParaRPr lang="en-US" sz="700" dirty="0"/>
          </a:p>
        </p:txBody>
      </p:sp>
      <p:sp>
        <p:nvSpPr>
          <p:cNvPr id="40" name="t30"/>
          <p:cNvSpPr txBox="1"/>
          <p:nvPr/>
        </p:nvSpPr>
        <p:spPr>
          <a:xfrm>
            <a:off x="320040" y="4572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Tổng quan</a:t>
            </a:r>
            <a:endParaRPr lang="en-US" sz="1100" dirty="0"/>
          </a:p>
        </p:txBody>
      </p:sp>
      <p:sp>
        <p:nvSpPr>
          <p:cNvPr id="41" name="t31"/>
          <p:cNvSpPr txBox="1"/>
          <p:nvPr/>
        </p:nvSpPr>
        <p:spPr>
          <a:xfrm>
            <a:off x="320040" y="459028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trên cùng (FusionSolar, Solarman). Cột = đã đo, đường = dự báo trên cùng một biểu đồ (Home Assistant Energy).</a:t>
            </a:r>
            <a:endParaRPr lang="en-US" sz="750" dirty="0"/>
          </a:p>
        </p:txBody>
      </p:sp>
      <p:sp>
        <p:nvSpPr>
          <p:cNvPr id="42" name="Forecast frame"/>
          <p:cNvSpPr/>
          <p:nvPr/>
        </p:nvSpPr>
        <p:spPr>
          <a:xfrm>
            <a:off x="2514600" y="749808"/>
            <a:ext cx="1783080" cy="3767328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3" name="Forecast notch"/>
          <p:cNvSpPr/>
          <p:nvPr/>
        </p:nvSpPr>
        <p:spPr>
          <a:xfrm>
            <a:off x="3131820" y="804672"/>
            <a:ext cx="548640" cy="91440"/>
          </a:xfrm>
          <a:prstGeom prst="roundRect">
            <a:avLst>
              <a:gd name="adj" fmla="val 50000"/>
            </a:avLst>
          </a:prstGeom>
          <a:solidFill>
            <a:srgbClr val="1F2937"/>
          </a:solidFill>
          <a:ln/>
        </p:spPr>
      </p:sp>
      <p:sp>
        <p:nvSpPr>
          <p:cNvPr id="44" name="t34"/>
          <p:cNvSpPr txBox="1"/>
          <p:nvPr/>
        </p:nvSpPr>
        <p:spPr>
          <a:xfrm>
            <a:off x="2679192" y="79552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13:05</a:t>
            </a:r>
            <a:endParaRPr lang="en-US" sz="700" dirty="0"/>
          </a:p>
        </p:txBody>
      </p:sp>
      <p:sp>
        <p:nvSpPr>
          <p:cNvPr id="45" name="rr35"/>
          <p:cNvSpPr/>
          <p:nvPr/>
        </p:nvSpPr>
        <p:spPr>
          <a:xfrm>
            <a:off x="3968496" y="822960"/>
            <a:ext cx="164592" cy="7315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</p:sp>
      <p:sp>
        <p:nvSpPr>
          <p:cNvPr id="46" name="hair36"/>
          <p:cNvSpPr/>
          <p:nvPr/>
        </p:nvSpPr>
        <p:spPr>
          <a:xfrm>
            <a:off x="2560320" y="4151376"/>
            <a:ext cx="169164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47" name="Forecast tab icon 0"/>
          <p:cNvSpPr/>
          <p:nvPr/>
        </p:nvSpPr>
        <p:spPr>
          <a:xfrm>
            <a:off x="2760345" y="4206240"/>
            <a:ext cx="91440" cy="91440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48" name="t37"/>
          <p:cNvSpPr txBox="1"/>
          <p:nvPr/>
        </p:nvSpPr>
        <p:spPr>
          <a:xfrm>
            <a:off x="2606040" y="4315968"/>
            <a:ext cx="40005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Tổng quan</a:t>
            </a:r>
            <a:endParaRPr lang="en-US" sz="600" dirty="0"/>
          </a:p>
        </p:txBody>
      </p:sp>
      <p:sp>
        <p:nvSpPr>
          <p:cNvPr id="49" name="Forecast tab icon 1"/>
          <p:cNvSpPr/>
          <p:nvPr/>
        </p:nvSpPr>
        <p:spPr>
          <a:xfrm>
            <a:off x="3160395" y="4206240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50" name="t38"/>
          <p:cNvSpPr txBox="1"/>
          <p:nvPr/>
        </p:nvSpPr>
        <p:spPr>
          <a:xfrm>
            <a:off x="3006090" y="4315968"/>
            <a:ext cx="40005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</a:t>
            </a:r>
            <a:endParaRPr lang="en-US" sz="600" dirty="0"/>
          </a:p>
        </p:txBody>
      </p:sp>
      <p:sp>
        <p:nvSpPr>
          <p:cNvPr id="51" name="Forecast tab icon 2"/>
          <p:cNvSpPr/>
          <p:nvPr/>
        </p:nvSpPr>
        <p:spPr>
          <a:xfrm>
            <a:off x="3560445" y="4206240"/>
            <a:ext cx="91440" cy="91440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52" name="t39"/>
          <p:cNvSpPr txBox="1"/>
          <p:nvPr/>
        </p:nvSpPr>
        <p:spPr>
          <a:xfrm>
            <a:off x="3406140" y="4315968"/>
            <a:ext cx="40005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bị</a:t>
            </a:r>
            <a:endParaRPr lang="en-US" sz="600" dirty="0"/>
          </a:p>
        </p:txBody>
      </p:sp>
      <p:sp>
        <p:nvSpPr>
          <p:cNvPr id="53" name="Forecast tab icon 3"/>
          <p:cNvSpPr/>
          <p:nvPr/>
        </p:nvSpPr>
        <p:spPr>
          <a:xfrm>
            <a:off x="3960495" y="4206240"/>
            <a:ext cx="91440" cy="91440"/>
          </a:xfrm>
          <a:prstGeom prst="ellipse">
            <a:avLst/>
          </a:prstGeom>
          <a:solidFill>
            <a:srgbClr val="9CA3AF"/>
          </a:solidFill>
          <a:ln/>
        </p:spPr>
      </p:sp>
      <p:sp>
        <p:nvSpPr>
          <p:cNvPr id="54" name="t40"/>
          <p:cNvSpPr txBox="1"/>
          <p:nvPr/>
        </p:nvSpPr>
        <p:spPr>
          <a:xfrm>
            <a:off x="3806190" y="4315968"/>
            <a:ext cx="40005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Tôi</a:t>
            </a:r>
            <a:endParaRPr lang="en-US" sz="600" dirty="0"/>
          </a:p>
        </p:txBody>
      </p:sp>
      <p:sp>
        <p:nvSpPr>
          <p:cNvPr id="55" name="t41"/>
          <p:cNvSpPr txBox="1"/>
          <p:nvPr/>
        </p:nvSpPr>
        <p:spPr>
          <a:xfrm>
            <a:off x="2642616" y="987552"/>
            <a:ext cx="1527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báo</a:t>
            </a:r>
            <a:endParaRPr lang="en-US" sz="1200" dirty="0"/>
          </a:p>
        </p:txBody>
      </p:sp>
      <p:sp>
        <p:nvSpPr>
          <p:cNvPr id="56" name="t42"/>
          <p:cNvSpPr txBox="1"/>
          <p:nvPr/>
        </p:nvSpPr>
        <p:spPr>
          <a:xfrm>
            <a:off x="2642616" y="1188720"/>
            <a:ext cx="1527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ngày tới · Nhà Q.7 · 5 kWp</a:t>
            </a:r>
            <a:endParaRPr lang="en-US" sz="650" dirty="0"/>
          </a:p>
        </p:txBody>
      </p:sp>
      <p:sp>
        <p:nvSpPr>
          <p:cNvPr id="57" name="hair43"/>
          <p:cNvSpPr/>
          <p:nvPr/>
        </p:nvSpPr>
        <p:spPr>
          <a:xfrm>
            <a:off x="2642616" y="1389888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58" name="t44"/>
          <p:cNvSpPr txBox="1"/>
          <p:nvPr/>
        </p:nvSpPr>
        <p:spPr>
          <a:xfrm>
            <a:off x="2642616" y="1408176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</a:t>
            </a:r>
            <a:endParaRPr lang="en-US" sz="700" dirty="0"/>
          </a:p>
          <a:p>
            <a:pPr indent="0" marL="0">
              <a:buNone/>
            </a:pPr>
            <a:r>
              <a:rPr lang="en-US" sz="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17/03</a:t>
            </a:r>
            <a:endParaRPr lang="en-US" sz="700" dirty="0"/>
          </a:p>
        </p:txBody>
      </p:sp>
      <p:sp>
        <p:nvSpPr>
          <p:cNvPr id="59" name="t45"/>
          <p:cNvSpPr txBox="1"/>
          <p:nvPr/>
        </p:nvSpPr>
        <p:spPr>
          <a:xfrm>
            <a:off x="3054096" y="1389888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mây 32%</a:t>
            </a:r>
            <a:endParaRPr lang="en-US" sz="600" dirty="0"/>
          </a:p>
        </p:txBody>
      </p:sp>
      <p:sp>
        <p:nvSpPr>
          <p:cNvPr id="60" name="rr46"/>
          <p:cNvSpPr/>
          <p:nvPr/>
        </p:nvSpPr>
        <p:spPr>
          <a:xfrm>
            <a:off x="3447288" y="1490472"/>
            <a:ext cx="457200" cy="457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61" name="rr47"/>
          <p:cNvSpPr/>
          <p:nvPr/>
        </p:nvSpPr>
        <p:spPr>
          <a:xfrm>
            <a:off x="3447288" y="1490472"/>
            <a:ext cx="426057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62" name="t48"/>
          <p:cNvSpPr txBox="1"/>
          <p:nvPr/>
        </p:nvSpPr>
        <p:spPr>
          <a:xfrm>
            <a:off x="3922776" y="138988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26,1</a:t>
            </a:r>
            <a:endParaRPr lang="en-US" sz="750" dirty="0"/>
          </a:p>
        </p:txBody>
      </p:sp>
      <p:sp>
        <p:nvSpPr>
          <p:cNvPr id="63" name="hair49"/>
          <p:cNvSpPr/>
          <p:nvPr/>
        </p:nvSpPr>
        <p:spPr>
          <a:xfrm>
            <a:off x="2642616" y="1636776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64" name="t50"/>
          <p:cNvSpPr txBox="1"/>
          <p:nvPr/>
        </p:nvSpPr>
        <p:spPr>
          <a:xfrm>
            <a:off x="2642616" y="1655064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T7</a:t>
            </a:r>
            <a:endParaRPr lang="en-US" sz="700" dirty="0"/>
          </a:p>
          <a:p>
            <a:pPr indent="0" marL="0">
              <a:buNone/>
            </a:pPr>
            <a:r>
              <a:rPr lang="en-US" sz="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18/03</a:t>
            </a:r>
            <a:endParaRPr lang="en-US" sz="700" dirty="0"/>
          </a:p>
        </p:txBody>
      </p:sp>
      <p:sp>
        <p:nvSpPr>
          <p:cNvPr id="65" name="t51"/>
          <p:cNvSpPr txBox="1"/>
          <p:nvPr/>
        </p:nvSpPr>
        <p:spPr>
          <a:xfrm>
            <a:off x="3054096" y="1636776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mây 80%</a:t>
            </a:r>
            <a:endParaRPr lang="en-US" sz="600" dirty="0"/>
          </a:p>
        </p:txBody>
      </p:sp>
      <p:sp>
        <p:nvSpPr>
          <p:cNvPr id="66" name="rr52"/>
          <p:cNvSpPr/>
          <p:nvPr/>
        </p:nvSpPr>
        <p:spPr>
          <a:xfrm>
            <a:off x="3447288" y="1737360"/>
            <a:ext cx="457200" cy="457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67" name="rr53"/>
          <p:cNvSpPr/>
          <p:nvPr/>
        </p:nvSpPr>
        <p:spPr>
          <a:xfrm>
            <a:off x="3447288" y="1737360"/>
            <a:ext cx="195802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68" name="t54"/>
          <p:cNvSpPr txBox="1"/>
          <p:nvPr/>
        </p:nvSpPr>
        <p:spPr>
          <a:xfrm>
            <a:off x="3922776" y="16367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</a:t>
            </a:r>
            <a:endParaRPr lang="en-US" sz="750" dirty="0"/>
          </a:p>
        </p:txBody>
      </p:sp>
      <p:sp>
        <p:nvSpPr>
          <p:cNvPr id="69" name="hair55"/>
          <p:cNvSpPr/>
          <p:nvPr/>
        </p:nvSpPr>
        <p:spPr>
          <a:xfrm>
            <a:off x="2642616" y="1883664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0" name="t56"/>
          <p:cNvSpPr txBox="1"/>
          <p:nvPr/>
        </p:nvSpPr>
        <p:spPr>
          <a:xfrm>
            <a:off x="2642616" y="1901952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</a:t>
            </a:r>
            <a:endParaRPr lang="en-US" sz="700" dirty="0"/>
          </a:p>
          <a:p>
            <a:pPr indent="0" marL="0">
              <a:buNone/>
            </a:pPr>
            <a:r>
              <a:rPr lang="en-US" sz="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19/03</a:t>
            </a:r>
            <a:endParaRPr lang="en-US" sz="700" dirty="0"/>
          </a:p>
        </p:txBody>
      </p:sp>
      <p:sp>
        <p:nvSpPr>
          <p:cNvPr id="71" name="t57"/>
          <p:cNvSpPr txBox="1"/>
          <p:nvPr/>
        </p:nvSpPr>
        <p:spPr>
          <a:xfrm>
            <a:off x="3054096" y="1883664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mây 95%</a:t>
            </a:r>
            <a:endParaRPr lang="en-US" sz="600" dirty="0"/>
          </a:p>
        </p:txBody>
      </p:sp>
      <p:sp>
        <p:nvSpPr>
          <p:cNvPr id="72" name="rr58"/>
          <p:cNvSpPr/>
          <p:nvPr/>
        </p:nvSpPr>
        <p:spPr>
          <a:xfrm>
            <a:off x="3447288" y="1984248"/>
            <a:ext cx="457200" cy="457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73" name="rr59"/>
          <p:cNvSpPr/>
          <p:nvPr/>
        </p:nvSpPr>
        <p:spPr>
          <a:xfrm>
            <a:off x="3447288" y="1984248"/>
            <a:ext cx="169190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74" name="t60"/>
          <p:cNvSpPr txBox="1"/>
          <p:nvPr/>
        </p:nvSpPr>
        <p:spPr>
          <a:xfrm>
            <a:off x="3922776" y="18836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</a:t>
            </a:r>
            <a:endParaRPr lang="en-US" sz="750" dirty="0"/>
          </a:p>
        </p:txBody>
      </p:sp>
      <p:sp>
        <p:nvSpPr>
          <p:cNvPr id="75" name="hair61"/>
          <p:cNvSpPr/>
          <p:nvPr/>
        </p:nvSpPr>
        <p:spPr>
          <a:xfrm>
            <a:off x="2642616" y="2130552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6" name="t62"/>
          <p:cNvSpPr txBox="1"/>
          <p:nvPr/>
        </p:nvSpPr>
        <p:spPr>
          <a:xfrm>
            <a:off x="2642616" y="2148840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T2</a:t>
            </a:r>
            <a:endParaRPr lang="en-US" sz="700" dirty="0"/>
          </a:p>
          <a:p>
            <a:pPr indent="0" marL="0">
              <a:buNone/>
            </a:pPr>
            <a:r>
              <a:rPr lang="en-US" sz="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20/03</a:t>
            </a:r>
            <a:endParaRPr lang="en-US" sz="700" dirty="0"/>
          </a:p>
        </p:txBody>
      </p:sp>
      <p:sp>
        <p:nvSpPr>
          <p:cNvPr id="77" name="t63"/>
          <p:cNvSpPr txBox="1"/>
          <p:nvPr/>
        </p:nvSpPr>
        <p:spPr>
          <a:xfrm>
            <a:off x="3054096" y="2130552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mây 42%</a:t>
            </a:r>
            <a:endParaRPr lang="en-US" sz="600" dirty="0"/>
          </a:p>
        </p:txBody>
      </p:sp>
      <p:sp>
        <p:nvSpPr>
          <p:cNvPr id="78" name="rr64"/>
          <p:cNvSpPr/>
          <p:nvPr/>
        </p:nvSpPr>
        <p:spPr>
          <a:xfrm>
            <a:off x="3447288" y="2231136"/>
            <a:ext cx="457200" cy="457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79" name="rr65"/>
          <p:cNvSpPr/>
          <p:nvPr/>
        </p:nvSpPr>
        <p:spPr>
          <a:xfrm>
            <a:off x="3447288" y="2231136"/>
            <a:ext cx="376865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80" name="t66"/>
          <p:cNvSpPr txBox="1"/>
          <p:nvPr/>
        </p:nvSpPr>
        <p:spPr>
          <a:xfrm>
            <a:off x="3922776" y="213055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23,1</a:t>
            </a:r>
            <a:endParaRPr lang="en-US" sz="750" dirty="0"/>
          </a:p>
        </p:txBody>
      </p:sp>
      <p:sp>
        <p:nvSpPr>
          <p:cNvPr id="81" name="hair67"/>
          <p:cNvSpPr/>
          <p:nvPr/>
        </p:nvSpPr>
        <p:spPr>
          <a:xfrm>
            <a:off x="2642616" y="2377440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2" name="t68"/>
          <p:cNvSpPr txBox="1"/>
          <p:nvPr/>
        </p:nvSpPr>
        <p:spPr>
          <a:xfrm>
            <a:off x="2642616" y="2395728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T3</a:t>
            </a:r>
            <a:endParaRPr lang="en-US" sz="700" dirty="0"/>
          </a:p>
          <a:p>
            <a:pPr indent="0" marL="0">
              <a:buNone/>
            </a:pPr>
            <a:r>
              <a:rPr lang="en-US" sz="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21/03</a:t>
            </a:r>
            <a:endParaRPr lang="en-US" sz="700" dirty="0"/>
          </a:p>
        </p:txBody>
      </p:sp>
      <p:sp>
        <p:nvSpPr>
          <p:cNvPr id="83" name="t69"/>
          <p:cNvSpPr txBox="1"/>
          <p:nvPr/>
        </p:nvSpPr>
        <p:spPr>
          <a:xfrm>
            <a:off x="3054096" y="2377440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mây 5%</a:t>
            </a:r>
            <a:endParaRPr lang="en-US" sz="600" dirty="0"/>
          </a:p>
        </p:txBody>
      </p:sp>
      <p:sp>
        <p:nvSpPr>
          <p:cNvPr id="84" name="rr70"/>
          <p:cNvSpPr/>
          <p:nvPr/>
        </p:nvSpPr>
        <p:spPr>
          <a:xfrm>
            <a:off x="3447288" y="2478024"/>
            <a:ext cx="457200" cy="457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85" name="rr71"/>
          <p:cNvSpPr/>
          <p:nvPr/>
        </p:nvSpPr>
        <p:spPr>
          <a:xfrm>
            <a:off x="3447288" y="2478024"/>
            <a:ext cx="457200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86" name="t72"/>
          <p:cNvSpPr txBox="1"/>
          <p:nvPr/>
        </p:nvSpPr>
        <p:spPr>
          <a:xfrm>
            <a:off x="3922776" y="237744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28,0</a:t>
            </a:r>
            <a:endParaRPr lang="en-US" sz="750" dirty="0"/>
          </a:p>
        </p:txBody>
      </p:sp>
      <p:sp>
        <p:nvSpPr>
          <p:cNvPr id="87" name="hair73"/>
          <p:cNvSpPr/>
          <p:nvPr/>
        </p:nvSpPr>
        <p:spPr>
          <a:xfrm>
            <a:off x="2642616" y="2624328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88" name="t74"/>
          <p:cNvSpPr txBox="1"/>
          <p:nvPr/>
        </p:nvSpPr>
        <p:spPr>
          <a:xfrm>
            <a:off x="2642616" y="2642616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T4</a:t>
            </a:r>
            <a:endParaRPr lang="en-US" sz="700" dirty="0"/>
          </a:p>
          <a:p>
            <a:pPr indent="0" marL="0">
              <a:buNone/>
            </a:pPr>
            <a:r>
              <a:rPr lang="en-US" sz="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22/03</a:t>
            </a:r>
            <a:endParaRPr lang="en-US" sz="700" dirty="0"/>
          </a:p>
        </p:txBody>
      </p:sp>
      <p:sp>
        <p:nvSpPr>
          <p:cNvPr id="89" name="t75"/>
          <p:cNvSpPr txBox="1"/>
          <p:nvPr/>
        </p:nvSpPr>
        <p:spPr>
          <a:xfrm>
            <a:off x="3054096" y="2624328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mây 76%</a:t>
            </a:r>
            <a:endParaRPr lang="en-US" sz="600" dirty="0"/>
          </a:p>
        </p:txBody>
      </p:sp>
      <p:sp>
        <p:nvSpPr>
          <p:cNvPr id="90" name="rr76"/>
          <p:cNvSpPr/>
          <p:nvPr/>
        </p:nvSpPr>
        <p:spPr>
          <a:xfrm>
            <a:off x="3447288" y="2724912"/>
            <a:ext cx="457200" cy="457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91" name="rr77"/>
          <p:cNvSpPr/>
          <p:nvPr/>
        </p:nvSpPr>
        <p:spPr>
          <a:xfrm>
            <a:off x="3447288" y="2724912"/>
            <a:ext cx="357328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92" name="t78"/>
          <p:cNvSpPr txBox="1"/>
          <p:nvPr/>
        </p:nvSpPr>
        <p:spPr>
          <a:xfrm>
            <a:off x="3922776" y="262432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21,9</a:t>
            </a:r>
            <a:endParaRPr lang="en-US" sz="750" dirty="0"/>
          </a:p>
        </p:txBody>
      </p:sp>
      <p:sp>
        <p:nvSpPr>
          <p:cNvPr id="93" name="hair79"/>
          <p:cNvSpPr/>
          <p:nvPr/>
        </p:nvSpPr>
        <p:spPr>
          <a:xfrm>
            <a:off x="2642616" y="2871216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94" name="t80"/>
          <p:cNvSpPr txBox="1"/>
          <p:nvPr/>
        </p:nvSpPr>
        <p:spPr>
          <a:xfrm>
            <a:off x="2642616" y="2889504"/>
            <a:ext cx="4114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T5</a:t>
            </a:r>
            <a:endParaRPr lang="en-US" sz="700" dirty="0"/>
          </a:p>
          <a:p>
            <a:pPr indent="0" marL="0">
              <a:buNone/>
            </a:pPr>
            <a:r>
              <a:rPr lang="en-US" sz="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23/03</a:t>
            </a:r>
            <a:endParaRPr lang="en-US" sz="700" dirty="0"/>
          </a:p>
        </p:txBody>
      </p:sp>
      <p:sp>
        <p:nvSpPr>
          <p:cNvPr id="95" name="t81"/>
          <p:cNvSpPr txBox="1"/>
          <p:nvPr/>
        </p:nvSpPr>
        <p:spPr>
          <a:xfrm>
            <a:off x="3054096" y="2871216"/>
            <a:ext cx="3840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mây 74%</a:t>
            </a:r>
            <a:endParaRPr lang="en-US" sz="600" dirty="0"/>
          </a:p>
        </p:txBody>
      </p:sp>
      <p:sp>
        <p:nvSpPr>
          <p:cNvPr id="96" name="rr82"/>
          <p:cNvSpPr/>
          <p:nvPr/>
        </p:nvSpPr>
        <p:spPr>
          <a:xfrm>
            <a:off x="3447288" y="2971800"/>
            <a:ext cx="457200" cy="45720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/>
        </p:spPr>
      </p:sp>
      <p:sp>
        <p:nvSpPr>
          <p:cNvPr id="97" name="rr83"/>
          <p:cNvSpPr/>
          <p:nvPr/>
        </p:nvSpPr>
        <p:spPr>
          <a:xfrm>
            <a:off x="3447288" y="2971800"/>
            <a:ext cx="390859" cy="4572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</p:sp>
      <p:sp>
        <p:nvSpPr>
          <p:cNvPr id="98" name="t84"/>
          <p:cNvSpPr txBox="1"/>
          <p:nvPr/>
        </p:nvSpPr>
        <p:spPr>
          <a:xfrm>
            <a:off x="3922776" y="28712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23,9</a:t>
            </a:r>
            <a:endParaRPr lang="en-US" sz="750" dirty="0"/>
          </a:p>
        </p:txBody>
      </p:sp>
      <p:sp>
        <p:nvSpPr>
          <p:cNvPr id="99" name="hair85"/>
          <p:cNvSpPr/>
          <p:nvPr/>
        </p:nvSpPr>
        <p:spPr>
          <a:xfrm>
            <a:off x="2642616" y="3118104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00" name="t86"/>
          <p:cNvSpPr txBox="1"/>
          <p:nvPr/>
        </p:nvSpPr>
        <p:spPr>
          <a:xfrm>
            <a:off x="2642616" y="3172968"/>
            <a:ext cx="1527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Ngày mai theo giờ (kWh)</a:t>
            </a:r>
            <a:endParaRPr lang="en-US" sz="700" dirty="0"/>
          </a:p>
        </p:txBody>
      </p:sp>
      <p:graphicFrame>
        <p:nvGraphicFramePr>
          <p:cNvPr id="101" name="Forecast tomorrow chart" descr=""/>
          <p:cNvGraphicFramePr/>
          <p:nvPr/>
        </p:nvGraphicFramePr>
        <p:xfrm>
          <a:off x="2606040" y="3300984"/>
          <a:ext cx="1581912" cy="640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2" name="t87"/>
          <p:cNvSpPr txBox="1"/>
          <p:nvPr/>
        </p:nvSpPr>
        <p:spPr>
          <a:xfrm>
            <a:off x="2642616" y="3986784"/>
            <a:ext cx="1527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 dự báo thời tiết, cập nhật mỗi giờ</a:t>
            </a:r>
            <a:endParaRPr lang="en-US" sz="550" dirty="0"/>
          </a:p>
        </p:txBody>
      </p:sp>
      <p:sp>
        <p:nvSpPr>
          <p:cNvPr id="103" name="t88"/>
          <p:cNvSpPr txBox="1"/>
          <p:nvPr/>
        </p:nvSpPr>
        <p:spPr>
          <a:xfrm>
            <a:off x="2514600" y="4572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Dự báo</a:t>
            </a:r>
            <a:endParaRPr lang="en-US" sz="1100" dirty="0"/>
          </a:p>
        </p:txBody>
      </p:sp>
      <p:sp>
        <p:nvSpPr>
          <p:cNvPr id="104" name="t89"/>
          <p:cNvSpPr txBox="1"/>
          <p:nvPr/>
        </p:nvSpPr>
        <p:spPr>
          <a:xfrm>
            <a:off x="2514600" y="459028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Danh sách theo ngày như app thời tiết (PV Solar Forecast, Forecast.Solar). Chạm một ngày để xem theo giờ.</a:t>
            </a:r>
            <a:endParaRPr lang="en-US" sz="750" dirty="0"/>
          </a:p>
        </p:txBody>
      </p:sp>
      <p:sp>
        <p:nvSpPr>
          <p:cNvPr id="105" name="Setup frame"/>
          <p:cNvSpPr/>
          <p:nvPr/>
        </p:nvSpPr>
        <p:spPr>
          <a:xfrm>
            <a:off x="4709160" y="749808"/>
            <a:ext cx="1783080" cy="3767328"/>
          </a:xfrm>
          <a:prstGeom prst="roundRect">
            <a:avLst>
              <a:gd name="adj" fmla="val 11282"/>
            </a:avLst>
          </a:prstGeom>
          <a:solidFill>
            <a:srgbClr val="FFFFFF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6" name="Setup notch"/>
          <p:cNvSpPr/>
          <p:nvPr/>
        </p:nvSpPr>
        <p:spPr>
          <a:xfrm>
            <a:off x="5326380" y="804672"/>
            <a:ext cx="548640" cy="91440"/>
          </a:xfrm>
          <a:prstGeom prst="roundRect">
            <a:avLst>
              <a:gd name="adj" fmla="val 50000"/>
            </a:avLst>
          </a:prstGeom>
          <a:solidFill>
            <a:srgbClr val="1F2937"/>
          </a:solidFill>
          <a:ln/>
        </p:spPr>
      </p:sp>
      <p:sp>
        <p:nvSpPr>
          <p:cNvPr id="107" name="t92"/>
          <p:cNvSpPr txBox="1"/>
          <p:nvPr/>
        </p:nvSpPr>
        <p:spPr>
          <a:xfrm>
            <a:off x="4873752" y="79552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13:05</a:t>
            </a:r>
            <a:endParaRPr lang="en-US" sz="700" dirty="0"/>
          </a:p>
        </p:txBody>
      </p:sp>
      <p:sp>
        <p:nvSpPr>
          <p:cNvPr id="108" name="rr93"/>
          <p:cNvSpPr/>
          <p:nvPr/>
        </p:nvSpPr>
        <p:spPr>
          <a:xfrm>
            <a:off x="6163056" y="822960"/>
            <a:ext cx="164592" cy="7315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111827"/>
            </a:solidFill>
            <a:prstDash val="solid"/>
          </a:ln>
        </p:spPr>
      </p:sp>
      <p:sp>
        <p:nvSpPr>
          <p:cNvPr id="109" name="t94"/>
          <p:cNvSpPr txBox="1"/>
          <p:nvPr/>
        </p:nvSpPr>
        <p:spPr>
          <a:xfrm>
            <a:off x="4837176" y="987552"/>
            <a:ext cx="1527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 </a:t>
            </a:r>
            <a:pPr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hệ thống</a:t>
            </a:r>
            <a:endParaRPr lang="en-US" sz="900" dirty="0"/>
          </a:p>
        </p:txBody>
      </p:sp>
      <p:sp>
        <p:nvSpPr>
          <p:cNvPr id="110" name="t95"/>
          <p:cNvSpPr txBox="1"/>
          <p:nvPr/>
        </p:nvSpPr>
        <p:spPr>
          <a:xfrm>
            <a:off x="4837176" y="987552"/>
            <a:ext cx="1527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2/3</a:t>
            </a:r>
            <a:endParaRPr lang="en-US" sz="650" dirty="0"/>
          </a:p>
        </p:txBody>
      </p:sp>
      <p:sp>
        <p:nvSpPr>
          <p:cNvPr id="111" name="t96"/>
          <p:cNvSpPr txBox="1"/>
          <p:nvPr/>
        </p:nvSpPr>
        <p:spPr>
          <a:xfrm>
            <a:off x="4837176" y="1261872"/>
            <a:ext cx="1527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spc="1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VỊ TRÍ</a:t>
            </a:r>
            <a:endParaRPr lang="en-US" sz="550" dirty="0"/>
          </a:p>
        </p:txBody>
      </p:sp>
      <p:sp>
        <p:nvSpPr>
          <p:cNvPr id="112" name="Map placeholder"/>
          <p:cNvSpPr/>
          <p:nvPr/>
        </p:nvSpPr>
        <p:spPr>
          <a:xfrm>
            <a:off x="4837176" y="1389888"/>
            <a:ext cx="1527048" cy="4572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13" name="Map pin"/>
          <p:cNvSpPr/>
          <p:nvPr/>
        </p:nvSpPr>
        <p:spPr>
          <a:xfrm>
            <a:off x="5564124" y="1572768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hair98"/>
          <p:cNvSpPr/>
          <p:nvPr/>
        </p:nvSpPr>
        <p:spPr>
          <a:xfrm>
            <a:off x="4837176" y="1847088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5" name="t99"/>
          <p:cNvSpPr txBox="1"/>
          <p:nvPr/>
        </p:nvSpPr>
        <p:spPr>
          <a:xfrm>
            <a:off x="4837176" y="184708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Địa chỉ</a:t>
            </a:r>
            <a:endParaRPr lang="en-US" sz="700" dirty="0"/>
          </a:p>
        </p:txBody>
      </p:sp>
      <p:sp>
        <p:nvSpPr>
          <p:cNvPr id="116" name="t100"/>
          <p:cNvSpPr txBox="1"/>
          <p:nvPr/>
        </p:nvSpPr>
        <p:spPr>
          <a:xfrm>
            <a:off x="5477256" y="1847088"/>
            <a:ext cx="88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Quận 7, TP.HCM ›</a:t>
            </a:r>
            <a:endParaRPr lang="en-US" sz="700" dirty="0"/>
          </a:p>
        </p:txBody>
      </p:sp>
      <p:sp>
        <p:nvSpPr>
          <p:cNvPr id="117" name="t101"/>
          <p:cNvSpPr txBox="1"/>
          <p:nvPr/>
        </p:nvSpPr>
        <p:spPr>
          <a:xfrm>
            <a:off x="4837176" y="2121408"/>
            <a:ext cx="1527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spc="1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TẤM PIN</a:t>
            </a:r>
            <a:endParaRPr lang="en-US" sz="550" dirty="0"/>
          </a:p>
        </p:txBody>
      </p:sp>
      <p:sp>
        <p:nvSpPr>
          <p:cNvPr id="118" name="hair102"/>
          <p:cNvSpPr/>
          <p:nvPr/>
        </p:nvSpPr>
        <p:spPr>
          <a:xfrm>
            <a:off x="4837176" y="2249424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19" name="t103"/>
          <p:cNvSpPr txBox="1"/>
          <p:nvPr/>
        </p:nvSpPr>
        <p:spPr>
          <a:xfrm>
            <a:off x="4837176" y="2249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suất</a:t>
            </a:r>
            <a:endParaRPr lang="en-US" sz="700" dirty="0"/>
          </a:p>
        </p:txBody>
      </p:sp>
      <p:sp>
        <p:nvSpPr>
          <p:cNvPr id="120" name="t104"/>
          <p:cNvSpPr txBox="1"/>
          <p:nvPr/>
        </p:nvSpPr>
        <p:spPr>
          <a:xfrm>
            <a:off x="5477256" y="2249424"/>
            <a:ext cx="88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 kWp</a:t>
            </a:r>
            <a:endParaRPr lang="en-US" sz="700" dirty="0"/>
          </a:p>
        </p:txBody>
      </p:sp>
      <p:sp>
        <p:nvSpPr>
          <p:cNvPr id="121" name="hair105"/>
          <p:cNvSpPr/>
          <p:nvPr/>
        </p:nvSpPr>
        <p:spPr>
          <a:xfrm>
            <a:off x="4837176" y="2450592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2" name="t106"/>
          <p:cNvSpPr txBox="1"/>
          <p:nvPr/>
        </p:nvSpPr>
        <p:spPr>
          <a:xfrm>
            <a:off x="4837176" y="245059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nghiêng</a:t>
            </a:r>
            <a:endParaRPr lang="en-US" sz="700" dirty="0"/>
          </a:p>
        </p:txBody>
      </p:sp>
      <p:sp>
        <p:nvSpPr>
          <p:cNvPr id="123" name="t107"/>
          <p:cNvSpPr txBox="1"/>
          <p:nvPr/>
        </p:nvSpPr>
        <p:spPr>
          <a:xfrm>
            <a:off x="5477256" y="2450592"/>
            <a:ext cx="88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10°</a:t>
            </a:r>
            <a:endParaRPr lang="en-US" sz="700" dirty="0"/>
          </a:p>
        </p:txBody>
      </p:sp>
      <p:sp>
        <p:nvSpPr>
          <p:cNvPr id="124" name="hair108"/>
          <p:cNvSpPr/>
          <p:nvPr/>
        </p:nvSpPr>
        <p:spPr>
          <a:xfrm>
            <a:off x="4837176" y="2651760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5" name="t109"/>
          <p:cNvSpPr txBox="1"/>
          <p:nvPr/>
        </p:nvSpPr>
        <p:spPr>
          <a:xfrm>
            <a:off x="4837176" y="265176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Hướng</a:t>
            </a:r>
            <a:endParaRPr lang="en-US" sz="700" dirty="0"/>
          </a:p>
        </p:txBody>
      </p:sp>
      <p:sp>
        <p:nvSpPr>
          <p:cNvPr id="126" name="t110"/>
          <p:cNvSpPr txBox="1"/>
          <p:nvPr/>
        </p:nvSpPr>
        <p:spPr>
          <a:xfrm>
            <a:off x="5477256" y="2651760"/>
            <a:ext cx="886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 (180°) ›</a:t>
            </a:r>
            <a:endParaRPr lang="en-US" sz="700" dirty="0"/>
          </a:p>
        </p:txBody>
      </p:sp>
      <p:sp>
        <p:nvSpPr>
          <p:cNvPr id="127" name="hair111"/>
          <p:cNvSpPr/>
          <p:nvPr/>
        </p:nvSpPr>
        <p:spPr>
          <a:xfrm>
            <a:off x="4837176" y="2852928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28" name="t112"/>
          <p:cNvSpPr txBox="1"/>
          <p:nvPr/>
        </p:nvSpPr>
        <p:spPr>
          <a:xfrm>
            <a:off x="4837176" y="2944368"/>
            <a:ext cx="152704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spc="10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LẤY SẢN LƯỢNG TỪ</a:t>
            </a:r>
            <a:endParaRPr lang="en-US" sz="550" dirty="0"/>
          </a:p>
        </p:txBody>
      </p:sp>
      <p:sp>
        <p:nvSpPr>
          <p:cNvPr id="129" name="hair113"/>
          <p:cNvSpPr/>
          <p:nvPr/>
        </p:nvSpPr>
        <p:spPr>
          <a:xfrm>
            <a:off x="4837176" y="3072384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30" name="t114"/>
          <p:cNvSpPr txBox="1"/>
          <p:nvPr/>
        </p:nvSpPr>
        <p:spPr>
          <a:xfrm>
            <a:off x="4837176" y="307238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Solarman</a:t>
            </a:r>
            <a:endParaRPr lang="en-US" sz="700" dirty="0"/>
          </a:p>
        </p:txBody>
      </p:sp>
      <p:sp>
        <p:nvSpPr>
          <p:cNvPr id="131" name="Setup radio 0"/>
          <p:cNvSpPr/>
          <p:nvPr/>
        </p:nvSpPr>
        <p:spPr>
          <a:xfrm>
            <a:off x="6245352" y="3122676"/>
            <a:ext cx="100584" cy="10058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2" name="hair115"/>
          <p:cNvSpPr/>
          <p:nvPr/>
        </p:nvSpPr>
        <p:spPr>
          <a:xfrm>
            <a:off x="4837176" y="3273552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33" name="t116"/>
          <p:cNvSpPr txBox="1"/>
          <p:nvPr/>
        </p:nvSpPr>
        <p:spPr>
          <a:xfrm>
            <a:off x="4837176" y="32735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FusionSolar</a:t>
            </a:r>
            <a:endParaRPr lang="en-US" sz="700" dirty="0"/>
          </a:p>
        </p:txBody>
      </p:sp>
      <p:sp>
        <p:nvSpPr>
          <p:cNvPr id="134" name="Setup radio 1"/>
          <p:cNvSpPr/>
          <p:nvPr/>
        </p:nvSpPr>
        <p:spPr>
          <a:xfrm>
            <a:off x="6245352" y="3323844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35" name="hair117"/>
          <p:cNvSpPr/>
          <p:nvPr/>
        </p:nvSpPr>
        <p:spPr>
          <a:xfrm>
            <a:off x="4837176" y="3474720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36" name="t118"/>
          <p:cNvSpPr txBox="1"/>
          <p:nvPr/>
        </p:nvSpPr>
        <p:spPr>
          <a:xfrm>
            <a:off x="4837176" y="347472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Tải file CSV</a:t>
            </a:r>
            <a:endParaRPr lang="en-US" sz="700" dirty="0"/>
          </a:p>
        </p:txBody>
      </p:sp>
      <p:sp>
        <p:nvSpPr>
          <p:cNvPr id="137" name="Setup radio 2"/>
          <p:cNvSpPr/>
          <p:nvPr/>
        </p:nvSpPr>
        <p:spPr>
          <a:xfrm>
            <a:off x="6245352" y="3525012"/>
            <a:ext cx="100584" cy="1005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38" name="hair119"/>
          <p:cNvSpPr/>
          <p:nvPr/>
        </p:nvSpPr>
        <p:spPr>
          <a:xfrm>
            <a:off x="4837176" y="3675888"/>
            <a:ext cx="1527048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39" name="Setup button"/>
          <p:cNvSpPr/>
          <p:nvPr/>
        </p:nvSpPr>
        <p:spPr>
          <a:xfrm>
            <a:off x="4837176" y="4059936"/>
            <a:ext cx="1527048" cy="237744"/>
          </a:xfrm>
          <a:prstGeom prst="roundRect">
            <a:avLst>
              <a:gd name="adj" fmla="val 23077"/>
            </a:avLst>
          </a:prstGeom>
          <a:solidFill>
            <a:srgbClr val="F59E0B"/>
          </a:solidFill>
          <a:ln/>
        </p:spPr>
      </p:sp>
      <p:sp>
        <p:nvSpPr>
          <p:cNvPr id="140" name="t121"/>
          <p:cNvSpPr txBox="1"/>
          <p:nvPr/>
        </p:nvSpPr>
        <p:spPr>
          <a:xfrm>
            <a:off x="4837176" y="4059936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Tiếp tục</a:t>
            </a:r>
            <a:endParaRPr lang="en-US" sz="800" dirty="0"/>
          </a:p>
        </p:txBody>
      </p:sp>
      <p:sp>
        <p:nvSpPr>
          <p:cNvPr id="141" name="t122"/>
          <p:cNvSpPr txBox="1"/>
          <p:nvPr/>
        </p:nvSpPr>
        <p:spPr>
          <a:xfrm>
            <a:off x="4709160" y="457200"/>
            <a:ext cx="1783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Thêm hệ thống</a:t>
            </a:r>
            <a:endParaRPr lang="en-US" sz="1100" dirty="0"/>
          </a:p>
        </p:txBody>
      </p:sp>
      <p:sp>
        <p:nvSpPr>
          <p:cNvPr id="142" name="t123"/>
          <p:cNvSpPr txBox="1"/>
          <p:nvPr/>
        </p:nvSpPr>
        <p:spPr>
          <a:xfrm>
            <a:off x="4709160" y="459028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Khai báo vị trí, kWp, góc, hướng như Solcast. Lấy số đo từ tài khoản inverter có sẵn hoặc file CSV.</a:t>
            </a:r>
            <a:endParaRPr lang="en-US" sz="750" dirty="0"/>
          </a:p>
        </p:txBody>
      </p:sp>
      <p:sp>
        <p:nvSpPr>
          <p:cNvPr id="143" name="t124"/>
          <p:cNvSpPr txBox="1"/>
          <p:nvPr/>
        </p:nvSpPr>
        <p:spPr>
          <a:xfrm>
            <a:off x="6812280" y="45720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app tương tự</a:t>
            </a:r>
            <a:endParaRPr lang="en-US" sz="1100" dirty="0"/>
          </a:p>
        </p:txBody>
      </p:sp>
      <p:sp>
        <p:nvSpPr>
          <p:cNvPr id="144" name="t125"/>
          <p:cNvSpPr txBox="1"/>
          <p:nvPr/>
        </p:nvSpPr>
        <p:spPr>
          <a:xfrm>
            <a:off x="6812280" y="667512"/>
            <a:ext cx="2057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 mô tả công khai của từng app</a:t>
            </a:r>
            <a:endParaRPr lang="en-US" sz="700" dirty="0"/>
          </a:p>
        </p:txBody>
      </p:sp>
      <p:graphicFrame>
        <p:nvGraphicFramePr>
          <p:cNvPr id="2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2280" y="868680"/>
          <a:ext cx="20574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685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đo thật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Dự báo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FusionSolar, Solarman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thấy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Enphase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ngày, chỉ hệ Enphase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Solcast, PV Solar Forecast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Ước tính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7–15 ngày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Assistant + Forecast.Solar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ngày, tự cài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MVP này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Có, nhiều hãng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1118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Theo giờ, 7 ngày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6" name="t126"/>
          <p:cNvSpPr txBox="1"/>
          <p:nvPr/>
        </p:nvSpPr>
        <p:spPr>
          <a:xfrm>
            <a:off x="6812280" y="2971800"/>
            <a:ext cx="2057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khác</a:t>
            </a:r>
            <a:endParaRPr lang="en-US" sz="850" dirty="0"/>
          </a:p>
        </p:txBody>
      </p:sp>
      <p:sp>
        <p:nvSpPr>
          <p:cNvPr id="147" name="t127"/>
          <p:cNvSpPr txBox="1"/>
          <p:nvPr/>
        </p:nvSpPr>
        <p:spPr>
          <a:xfrm>
            <a:off x="6812280" y="313639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đo inverter và dự báo trên cùng một biểu đồ, không cần tự cài như Home Assistant.</a:t>
            </a:r>
            <a:endParaRPr lang="en-US" sz="7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gắn với một hãng inverter.</a:t>
            </a:r>
            <a:endParaRPr lang="en-US" sz="750" dirty="0"/>
          </a:p>
          <a:p>
            <a:pPr marL="101600" indent="-101600"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trước ngày nhiều mây; báo khi sản lượng thấp hơn dự báo.</a:t>
            </a:r>
            <a:endParaRPr lang="en-US" sz="750" dirty="0"/>
          </a:p>
        </p:txBody>
      </p:sp>
      <p:sp>
        <p:nvSpPr>
          <p:cNvPr id="148" name="t128"/>
          <p:cNvSpPr txBox="1"/>
          <p:nvPr/>
        </p:nvSpPr>
        <p:spPr>
          <a:xfrm>
            <a:off x="6812280" y="4224528"/>
            <a:ext cx="2057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liệu trên màn hình: dữ liệu mock.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 MVP – dự báo điện mặt trời</dc:title>
  <dc:subject>PptxGenJS Presentation</dc:subject>
  <dc:creator>PptxGenJS</dc:creator>
  <cp:lastModifiedBy>PptxGenJS</cp:lastModifiedBy>
  <cp:revision>1</cp:revision>
  <dcterms:created xsi:type="dcterms:W3CDTF">2026-10-03T05:08:25Z</dcterms:created>
  <dcterms:modified xsi:type="dcterms:W3CDTF">2026-10-03T05:08:25Z</dcterms:modified>
</cp:coreProperties>
</file>
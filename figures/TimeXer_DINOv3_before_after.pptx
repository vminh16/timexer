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6675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000000"/>
                </a:solidFill>
                <a:latin typeface="Noto Sans Bold"/>
              </a:rPr>
              <a:t>(a) TimeXer (baseline)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96012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Noto Sans Bold"/>
              </a:rPr>
              <a:t>Output</a:t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4572000" y="1298448"/>
            <a:ext cx="0" cy="301752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337560" y="1600200"/>
            <a:ext cx="2468880" cy="502920"/>
          </a:xfrm>
          <a:prstGeom prst="roundRect">
            <a:avLst>
              <a:gd name="adj" fmla="val 21818"/>
            </a:avLst>
          </a:prstGeom>
          <a:solidFill>
            <a:srgbClr val="A6A6A6"/>
          </a:solidFill>
          <a:ln w="25400">
            <a:solidFill>
              <a:srgbClr val="000000"/>
            </a:solidFill>
          </a:ln>
          <a:effectLst>
            <a:outerShdw blurRad="63500" dist="50800" dir="27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800" b="1" i="0">
                <a:solidFill>
                  <a:srgbClr val="000000"/>
                </a:solidFill>
                <a:latin typeface="Noto Sans Bold"/>
              </a:rPr>
              <a:t>Projection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8920" y="2514600"/>
            <a:ext cx="3566160" cy="5486400"/>
          </a:xfrm>
          <a:prstGeom prst="roundRect">
            <a:avLst>
              <a:gd name="adj" fmla="val 2051"/>
            </a:avLst>
          </a:prstGeom>
          <a:solidFill>
            <a:srgbClr val="F2F1F1"/>
          </a:solidFill>
          <a:ln w="15875">
            <a:solidFill>
              <a:srgbClr val="000000"/>
            </a:solidFill>
          </a:ln>
          <a:effectLst>
            <a:outerShdw blurRad="63500" dist="50800" dir="27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514600"/>
            <a:ext cx="7315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0000"/>
                </a:solidFill>
                <a:latin typeface="Noto Sans Bold"/>
              </a:rPr>
              <a:t>L ×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4572000" y="2103120"/>
            <a:ext cx="0" cy="59436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108960" y="2697480"/>
            <a:ext cx="2926079" cy="502920"/>
          </a:xfrm>
          <a:prstGeom prst="roundRect">
            <a:avLst>
              <a:gd name="adj" fmla="val 21818"/>
            </a:avLst>
          </a:prstGeom>
          <a:solidFill>
            <a:srgbClr val="D9F4CD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800" b="1" i="0">
                <a:solidFill>
                  <a:srgbClr val="000000"/>
                </a:solidFill>
                <a:latin typeface="Noto Sans Bold"/>
              </a:rPr>
              <a:t>LayerNorm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3611880"/>
            <a:ext cx="2926079" cy="502920"/>
          </a:xfrm>
          <a:prstGeom prst="roundRect">
            <a:avLst>
              <a:gd name="adj" fmla="val 21818"/>
            </a:avLst>
          </a:prstGeom>
          <a:solidFill>
            <a:srgbClr val="C2CD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800" b="1" i="0">
                <a:solidFill>
                  <a:srgbClr val="000000"/>
                </a:solidFill>
                <a:latin typeface="Noto Sans Bold"/>
              </a:rPr>
              <a:t>Feed-Forward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4526280"/>
            <a:ext cx="2926079" cy="502920"/>
          </a:xfrm>
          <a:prstGeom prst="roundRect">
            <a:avLst>
              <a:gd name="adj" fmla="val 21818"/>
            </a:avLst>
          </a:prstGeom>
          <a:solidFill>
            <a:srgbClr val="D9F4CD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800" b="1" i="0">
                <a:solidFill>
                  <a:srgbClr val="000000"/>
                </a:solidFill>
                <a:latin typeface="Noto Sans Bold"/>
              </a:rPr>
              <a:t>LayerNorm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5440680"/>
            <a:ext cx="2926079" cy="502920"/>
          </a:xfrm>
          <a:prstGeom prst="roundRect">
            <a:avLst>
              <a:gd name="adj" fmla="val 21818"/>
            </a:avLst>
          </a:prstGeom>
          <a:solidFill>
            <a:srgbClr val="FFC099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800" b="1" i="0">
                <a:solidFill>
                  <a:srgbClr val="000000"/>
                </a:solidFill>
                <a:latin typeface="Noto Sans Bold"/>
              </a:rPr>
              <a:t>Cross-Attention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6355080"/>
            <a:ext cx="2926079" cy="502920"/>
          </a:xfrm>
          <a:prstGeom prst="roundRect">
            <a:avLst>
              <a:gd name="adj" fmla="val 21818"/>
            </a:avLst>
          </a:prstGeom>
          <a:solidFill>
            <a:srgbClr val="D9F4CD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800" b="1" i="0">
                <a:solidFill>
                  <a:srgbClr val="000000"/>
                </a:solidFill>
                <a:latin typeface="Noto Sans Bold"/>
              </a:rPr>
              <a:t>LayerNorm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0" y="7269480"/>
            <a:ext cx="2926079" cy="502920"/>
          </a:xfrm>
          <a:prstGeom prst="roundRect">
            <a:avLst>
              <a:gd name="adj" fmla="val 21818"/>
            </a:avLst>
          </a:prstGeom>
          <a:solidFill>
            <a:srgbClr val="FFC099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800" b="1" i="0">
                <a:solidFill>
                  <a:srgbClr val="000000"/>
                </a:solidFill>
                <a:latin typeface="Noto Sans Bold"/>
              </a:rPr>
              <a:t>Self-Attention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4572000" y="3200400"/>
            <a:ext cx="0" cy="41148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572000" y="4114800"/>
            <a:ext cx="0" cy="41148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4572000" y="5029200"/>
            <a:ext cx="0" cy="41148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4572000" y="5943600"/>
            <a:ext cx="0" cy="41148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572000" y="6858000"/>
            <a:ext cx="0" cy="41148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337560" y="8412480"/>
            <a:ext cx="2468880" cy="502920"/>
          </a:xfrm>
          <a:prstGeom prst="roundRect">
            <a:avLst>
              <a:gd name="adj" fmla="val 21818"/>
            </a:avLst>
          </a:prstGeom>
          <a:solidFill>
            <a:srgbClr val="FFC2E8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800" b="1" i="0">
                <a:solidFill>
                  <a:srgbClr val="000000"/>
                </a:solidFill>
                <a:latin typeface="Noto Sans Bold"/>
              </a:rPr>
              <a:t>Embedding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4572000" y="7772400"/>
            <a:ext cx="0" cy="64008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108960" y="9235440"/>
            <a:ext cx="2926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Noto Sans Bold"/>
              </a:rPr>
              <a:t>Endogenous Input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4572000" y="8915400"/>
            <a:ext cx="0" cy="338328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108960" y="9564624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  <a:latin typeface="Noto Sans"/>
              </a:rPr>
              <a:t>patches + global token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5440680"/>
            <a:ext cx="1783080" cy="502920"/>
          </a:xfrm>
          <a:prstGeom prst="roundRect">
            <a:avLst>
              <a:gd name="adj" fmla="val 21818"/>
            </a:avLst>
          </a:prstGeom>
          <a:solidFill>
            <a:srgbClr val="FFC2E8"/>
          </a:solidFill>
          <a:ln w="25400">
            <a:solidFill>
              <a:srgbClr val="000000"/>
            </a:solidFill>
          </a:ln>
          <a:effectLst>
            <a:outerShdw blurRad="63500" dist="50800" dir="27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800" b="1" i="0">
                <a:solidFill>
                  <a:srgbClr val="000000"/>
                </a:solidFill>
                <a:latin typeface="Noto Sans Bold"/>
              </a:rPr>
              <a:t>Embedding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194560" y="5692140"/>
            <a:ext cx="914400" cy="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28600" y="6217920"/>
            <a:ext cx="21488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Noto Sans Bold"/>
              </a:rPr>
              <a:t>Exogenous Input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1298448" y="5943600"/>
            <a:ext cx="0" cy="292608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Picture 28" descr="e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138160"/>
            <a:ext cx="2011680" cy="62094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65760" y="8823960"/>
            <a:ext cx="2194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  <a:latin typeface="Noto Sans"/>
              </a:rPr>
              <a:t>target, 168 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97479" y="2395728"/>
            <a:ext cx="3749039" cy="6638544"/>
          </a:xfrm>
          <a:prstGeom prst="roundRect">
            <a:avLst>
              <a:gd name="adj" fmla="val 2439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697479" y="2395728"/>
            <a:ext cx="3749039" cy="6638544"/>
          </a:xfrm>
          <a:prstGeom prst="roundRect">
            <a:avLst>
              <a:gd name="adj" fmla="val 2439"/>
            </a:avLst>
          </a:prstGeom>
          <a:noFill/>
          <a:ln w="22225">
            <a:solidFill>
              <a:srgbClr val="FF31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199631" y="2148840"/>
            <a:ext cx="493776" cy="493776"/>
          </a:xfrm>
          <a:prstGeom prst="ellipse">
            <a:avLst/>
          </a:prstGeom>
          <a:solidFill>
            <a:srgbClr val="FF3131"/>
          </a:solidFill>
          <a:ln w="25400">
            <a:solidFill>
              <a:srgbClr val="FFFFFF"/>
            </a:solidFill>
          </a:ln>
          <a:effectLst>
            <a:outerShdw blurRad="63500" dist="50800" dir="27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6335420" y="2284628"/>
            <a:ext cx="222199" cy="222199"/>
          </a:xfrm>
          <a:prstGeom prst="line">
            <a:avLst/>
          </a:prstGeom>
          <a:ln w="444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6335420" y="2284628"/>
            <a:ext cx="222199" cy="222199"/>
          </a:xfrm>
          <a:prstGeom prst="line">
            <a:avLst/>
          </a:prstGeom>
          <a:ln w="444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697479" y="2011680"/>
            <a:ext cx="2377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3131"/>
                </a:solidFill>
                <a:latin typeface="Noto Sans Bold"/>
              </a:rPr>
              <a:t>removed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360920" y="868680"/>
            <a:ext cx="0" cy="8778240"/>
          </a:xfrm>
          <a:prstGeom prst="line">
            <a:avLst/>
          </a:prstGeom>
          <a:ln w="19050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680960" y="274320"/>
            <a:ext cx="10241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Noto Sans Bold"/>
              </a:rPr>
              <a:t>(b) TimeXer-DINOv3 (ours)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96012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Noto Sans Bold"/>
              </a:rPr>
              <a:t>Output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11612880" y="1298448"/>
            <a:ext cx="0" cy="301752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10241280" y="1600200"/>
            <a:ext cx="2743200" cy="502920"/>
          </a:xfrm>
          <a:prstGeom prst="roundRect">
            <a:avLst>
              <a:gd name="adj" fmla="val 21818"/>
            </a:avLst>
          </a:prstGeom>
          <a:solidFill>
            <a:srgbClr val="A6A6A6"/>
          </a:solidFill>
          <a:ln w="25400">
            <a:solidFill>
              <a:srgbClr val="000000"/>
            </a:solidFill>
          </a:ln>
          <a:effectLst>
            <a:outerShdw blurRad="63500" dist="50800" dir="27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800" b="1" i="0">
                <a:solidFill>
                  <a:srgbClr val="000000"/>
                </a:solidFill>
                <a:latin typeface="Noto Sans Bold"/>
              </a:rPr>
              <a:t>Projection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01200" y="2331720"/>
            <a:ext cx="4023360" cy="3749039"/>
          </a:xfrm>
          <a:prstGeom prst="roundRect">
            <a:avLst>
              <a:gd name="adj" fmla="val 1951"/>
            </a:avLst>
          </a:prstGeom>
          <a:solidFill>
            <a:srgbClr val="F2F1F1"/>
          </a:solidFill>
          <a:ln w="15875">
            <a:solidFill>
              <a:srgbClr val="000000"/>
            </a:solidFill>
          </a:ln>
          <a:effectLst>
            <a:outerShdw blurRad="63500" dist="50800" dir="27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829800" y="2514600"/>
            <a:ext cx="3566160" cy="502920"/>
          </a:xfrm>
          <a:prstGeom prst="roundRect">
            <a:avLst>
              <a:gd name="adj" fmla="val 21818"/>
            </a:avLst>
          </a:prstGeom>
          <a:solidFill>
            <a:srgbClr val="FFDE59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800" b="1" i="0">
                <a:solidFill>
                  <a:srgbClr val="000000"/>
                </a:solidFill>
                <a:latin typeface="Noto Sans Bold"/>
              </a:rPr>
              <a:t>Pool 121 → 7 tokens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3075920" y="2359152"/>
            <a:ext cx="566928" cy="274320"/>
          </a:xfrm>
          <a:prstGeom prst="roundRect">
            <a:avLst>
              <a:gd name="adj" fmla="val 20000"/>
            </a:avLst>
          </a:prstGeom>
          <a:solidFill>
            <a:srgbClr val="FF3131"/>
          </a:solidFill>
          <a:ln w="12700">
            <a:solidFill>
              <a:srgbClr val="FF31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Bold"/>
              </a:rPr>
              <a:t>NEW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829800" y="3429000"/>
            <a:ext cx="3566160" cy="612648"/>
          </a:xfrm>
          <a:prstGeom prst="roundRect">
            <a:avLst>
              <a:gd name="adj" fmla="val 17910"/>
            </a:avLst>
          </a:prstGeom>
          <a:solidFill>
            <a:srgbClr val="FFC099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800" b="1" i="0">
                <a:solidFill>
                  <a:srgbClr val="000000"/>
                </a:solidFill>
                <a:latin typeface="Noto Sans Bold"/>
              </a:rPr>
              <a:t>Self-Attention × 1</a:t>
            </a:r>
          </a:p>
          <a:p>
            <a:pPr algn="ctr"/>
            <a:r>
              <a:rPr sz="1200" b="0" i="0">
                <a:solidFill>
                  <a:srgbClr val="000000"/>
                </a:solidFill>
                <a:latin typeface="Noto Sans"/>
              </a:rPr>
              <a:t>121 patches + fused CLS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075920" y="3273552"/>
            <a:ext cx="566928" cy="274320"/>
          </a:xfrm>
          <a:prstGeom prst="roundRect">
            <a:avLst>
              <a:gd name="adj" fmla="val 20000"/>
            </a:avLst>
          </a:prstGeom>
          <a:solidFill>
            <a:srgbClr val="FF3131"/>
          </a:solidFill>
          <a:ln w="12700">
            <a:solidFill>
              <a:srgbClr val="FF31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Bold"/>
              </a:rPr>
              <a:t>NEW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829800" y="4343400"/>
            <a:ext cx="3566160" cy="612648"/>
          </a:xfrm>
          <a:prstGeom prst="roundRect">
            <a:avLst>
              <a:gd name="adj" fmla="val 17910"/>
            </a:avLst>
          </a:prstGeom>
          <a:solidFill>
            <a:srgbClr val="FFC099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800" b="1" i="0">
                <a:solidFill>
                  <a:srgbClr val="000000"/>
                </a:solidFill>
                <a:latin typeface="Noto Sans Bold"/>
              </a:rPr>
              <a:t>Cross-Attention × 1</a:t>
            </a:r>
          </a:p>
          <a:p>
            <a:pPr algn="ctr"/>
            <a:r>
              <a:rPr sz="1200" b="0" i="0">
                <a:solidFill>
                  <a:srgbClr val="000000"/>
                </a:solidFill>
                <a:latin typeface="Noto Sans"/>
              </a:rPr>
              <a:t>query = CLS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3075920" y="4187952"/>
            <a:ext cx="566928" cy="274320"/>
          </a:xfrm>
          <a:prstGeom prst="roundRect">
            <a:avLst>
              <a:gd name="adj" fmla="val 20000"/>
            </a:avLst>
          </a:prstGeom>
          <a:solidFill>
            <a:srgbClr val="FF3131"/>
          </a:solidFill>
          <a:ln w="12700">
            <a:solidFill>
              <a:srgbClr val="FF31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Bold"/>
              </a:rPr>
              <a:t>NEW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829800" y="5257800"/>
            <a:ext cx="3566160" cy="612648"/>
          </a:xfrm>
          <a:prstGeom prst="roundRect">
            <a:avLst>
              <a:gd name="adj" fmla="val 17910"/>
            </a:avLst>
          </a:prstGeom>
          <a:solidFill>
            <a:srgbClr val="E8E8E8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800" b="1" i="0">
                <a:solidFill>
                  <a:srgbClr val="000000"/>
                </a:solidFill>
                <a:latin typeface="Noto Sans Bold"/>
              </a:rPr>
              <a:t>Linear Adapter</a:t>
            </a:r>
          </a:p>
          <a:p>
            <a:pPr algn="ctr"/>
            <a:r>
              <a:rPr sz="1200" b="0" i="0">
                <a:solidFill>
                  <a:srgbClr val="000000"/>
                </a:solidFill>
                <a:latin typeface="Noto Sans"/>
              </a:rPr>
              <a:t>384 → 256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3075920" y="5102352"/>
            <a:ext cx="566928" cy="274320"/>
          </a:xfrm>
          <a:prstGeom prst="roundRect">
            <a:avLst>
              <a:gd name="adj" fmla="val 20000"/>
            </a:avLst>
          </a:prstGeom>
          <a:solidFill>
            <a:srgbClr val="FF3131"/>
          </a:solidFill>
          <a:ln w="12700">
            <a:solidFill>
              <a:srgbClr val="FF31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Bold"/>
              </a:rPr>
              <a:t>NEW</a:t>
            </a:r>
          </a:p>
        </p:txBody>
      </p:sp>
      <p:cxnSp>
        <p:nvCxnSpPr>
          <p:cNvPr id="51" name="Connector 50"/>
          <p:cNvCxnSpPr/>
          <p:nvPr/>
        </p:nvCxnSpPr>
        <p:spPr>
          <a:xfrm flipV="1">
            <a:off x="11612880" y="2103120"/>
            <a:ext cx="0" cy="41148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11612880" y="3017520"/>
            <a:ext cx="0" cy="41148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1612880" y="4041648"/>
            <a:ext cx="0" cy="301752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1612880" y="4956048"/>
            <a:ext cx="0" cy="301752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3395960" y="5559552"/>
            <a:ext cx="438912" cy="0"/>
          </a:xfrm>
          <a:prstGeom prst="line">
            <a:avLst/>
          </a:prstGeom>
          <a:ln w="22225">
            <a:solidFill>
              <a:srgbClr val="517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3834872" y="3739896"/>
            <a:ext cx="0" cy="1819656"/>
          </a:xfrm>
          <a:prstGeom prst="line">
            <a:avLst/>
          </a:prstGeom>
          <a:ln w="22225">
            <a:solidFill>
              <a:srgbClr val="517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13395960" y="3739896"/>
            <a:ext cx="438912" cy="0"/>
          </a:xfrm>
          <a:prstGeom prst="line">
            <a:avLst/>
          </a:prstGeom>
          <a:ln w="22225">
            <a:solidFill>
              <a:srgbClr val="5170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3871448" y="4069080"/>
            <a:ext cx="274320" cy="1188720"/>
          </a:xfrm>
          <a:prstGeom prst="rect">
            <a:avLst/>
          </a:prstGeom>
          <a:noFill/>
        </p:spPr>
        <p:txBody>
          <a:bodyPr wrap="square" anchor="ctr" lIns="0" rIns="0" tIns="0" bIns="0" vert="vert270">
            <a:spAutoFit/>
          </a:bodyPr>
          <a:lstStyle/>
          <a:p>
            <a:pPr algn="ctr"/>
            <a:r>
              <a:rPr sz="1200" b="0" i="0">
                <a:solidFill>
                  <a:srgbClr val="5170FF"/>
                </a:solidFill>
                <a:latin typeface="Noto Sans"/>
              </a:rPr>
              <a:t>patches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927080" y="4937760"/>
            <a:ext cx="594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5170FF"/>
                </a:solidFill>
                <a:latin typeface="Noto Sans"/>
              </a:rPr>
              <a:t>CLS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646920" y="635508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B6C3FF"/>
          </a:solidFill>
          <a:ln w="25400">
            <a:solidFill>
              <a:srgbClr val="000000"/>
            </a:solidFill>
          </a:ln>
          <a:effectLst>
            <a:outerShdw blurRad="63500" dist="50800" dir="27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2000" b="1" i="0">
                <a:solidFill>
                  <a:srgbClr val="000000"/>
                </a:solidFill>
                <a:latin typeface="Noto Sans Bold"/>
              </a:rPr>
              <a:t>DINOv3 ViT-S/16</a:t>
            </a:r>
          </a:p>
          <a:p>
            <a:pPr algn="ctr"/>
            <a:r>
              <a:rPr sz="1400" b="0" i="0">
                <a:solidFill>
                  <a:srgbClr val="000000"/>
                </a:solidFill>
                <a:latin typeface="Noto Sans"/>
              </a:rPr>
              <a:t>12 blocks · pretrained on LVD-1689M</a:t>
            </a:r>
          </a:p>
          <a:p>
            <a:pPr algn="ctr"/>
            <a:r>
              <a:rPr sz="1400" b="0" i="0">
                <a:solidFill>
                  <a:srgbClr val="000000"/>
                </a:solidFill>
                <a:latin typeface="Noto Sans"/>
              </a:rPr>
              <a:t>R1: frozen · R2: top-2 blocks tuned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3258800" y="6199632"/>
            <a:ext cx="566928" cy="274320"/>
          </a:xfrm>
          <a:prstGeom prst="roundRect">
            <a:avLst>
              <a:gd name="adj" fmla="val 20000"/>
            </a:avLst>
          </a:prstGeom>
          <a:solidFill>
            <a:srgbClr val="FF3131"/>
          </a:solidFill>
          <a:ln w="12700">
            <a:solidFill>
              <a:srgbClr val="FF31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Bold"/>
              </a:rPr>
              <a:t>NEW</a:t>
            </a:r>
          </a:p>
        </p:txBody>
      </p:sp>
      <p:cxnSp>
        <p:nvCxnSpPr>
          <p:cNvPr id="62" name="Connector 61"/>
          <p:cNvCxnSpPr/>
          <p:nvPr/>
        </p:nvCxnSpPr>
        <p:spPr>
          <a:xfrm flipV="1">
            <a:off x="11612880" y="5870448"/>
            <a:ext cx="0" cy="484632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10058400" y="8412480"/>
            <a:ext cx="3108960" cy="502920"/>
          </a:xfrm>
          <a:prstGeom prst="roundRect">
            <a:avLst>
              <a:gd name="adj" fmla="val 21818"/>
            </a:avLst>
          </a:prstGeom>
          <a:solidFill>
            <a:srgbClr val="FFC2E8"/>
          </a:solidFill>
          <a:ln w="25400">
            <a:solidFill>
              <a:srgbClr val="000000"/>
            </a:solidFill>
          </a:ln>
          <a:effectLst>
            <a:outerShdw blurRad="63500" dist="50800" dir="27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800" b="1" i="0">
                <a:solidFill>
                  <a:srgbClr val="000000"/>
                </a:solidFill>
                <a:latin typeface="Noto Sans Bold"/>
              </a:rPr>
              <a:t>TS2Image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2893040" y="8257031"/>
            <a:ext cx="566928" cy="274320"/>
          </a:xfrm>
          <a:prstGeom prst="roundRect">
            <a:avLst>
              <a:gd name="adj" fmla="val 20000"/>
            </a:avLst>
          </a:prstGeom>
          <a:solidFill>
            <a:srgbClr val="FF3131"/>
          </a:solidFill>
          <a:ln w="12700">
            <a:solidFill>
              <a:srgbClr val="FF31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Bold"/>
              </a:rPr>
              <a:t>NEW</a:t>
            </a:r>
          </a:p>
        </p:txBody>
      </p:sp>
      <p:cxnSp>
        <p:nvCxnSpPr>
          <p:cNvPr id="65" name="Connector 64"/>
          <p:cNvCxnSpPr/>
          <p:nvPr/>
        </p:nvCxnSpPr>
        <p:spPr>
          <a:xfrm flipV="1">
            <a:off x="11612880" y="7818120"/>
            <a:ext cx="0" cy="59436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0149840" y="9235440"/>
            <a:ext cx="2926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Noto Sans Bold"/>
              </a:rPr>
              <a:t>Endogenous Input</a:t>
            </a:r>
          </a:p>
        </p:txBody>
      </p:sp>
      <p:cxnSp>
        <p:nvCxnSpPr>
          <p:cNvPr id="67" name="Connector 66"/>
          <p:cNvCxnSpPr/>
          <p:nvPr/>
        </p:nvCxnSpPr>
        <p:spPr>
          <a:xfrm flipV="1">
            <a:off x="11612880" y="8915400"/>
            <a:ext cx="0" cy="338328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10149840" y="9564624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  <a:latin typeface="Noto Sans"/>
              </a:rPr>
              <a:t>RevIN-normalised window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680960" y="4343400"/>
            <a:ext cx="1783080" cy="502920"/>
          </a:xfrm>
          <a:prstGeom prst="roundRect">
            <a:avLst>
              <a:gd name="adj" fmla="val 21818"/>
            </a:avLst>
          </a:prstGeom>
          <a:solidFill>
            <a:srgbClr val="FFC2E8"/>
          </a:solidFill>
          <a:ln w="25400">
            <a:solidFill>
              <a:srgbClr val="000000"/>
            </a:solidFill>
          </a:ln>
          <a:effectLst>
            <a:outerShdw blurRad="63500" dist="50800" dir="27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800" b="1" i="0">
                <a:solidFill>
                  <a:srgbClr val="000000"/>
                </a:solidFill>
                <a:latin typeface="Noto Sans Bold"/>
              </a:rPr>
              <a:t>Embedding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9464040" y="4649724"/>
            <a:ext cx="365760" cy="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7498079" y="5120640"/>
            <a:ext cx="21488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Noto Sans Bold"/>
              </a:rPr>
              <a:t>Exogenous Input</a:t>
            </a:r>
          </a:p>
        </p:txBody>
      </p:sp>
      <p:cxnSp>
        <p:nvCxnSpPr>
          <p:cNvPr id="72" name="Connector 71"/>
          <p:cNvCxnSpPr/>
          <p:nvPr/>
        </p:nvCxnSpPr>
        <p:spPr>
          <a:xfrm flipV="1">
            <a:off x="8567928" y="4846320"/>
            <a:ext cx="0" cy="292608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3" name="Picture 72" descr="ex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5577840"/>
            <a:ext cx="1554480" cy="479818"/>
          </a:xfrm>
          <a:prstGeom prst="rect">
            <a:avLst/>
          </a:prstGeom>
        </p:spPr>
      </p:pic>
      <p:pic>
        <p:nvPicPr>
          <p:cNvPr id="74" name="Picture 73" descr="ex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6080760"/>
            <a:ext cx="1554480" cy="479818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7589520" y="6629400"/>
            <a:ext cx="20116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  <a:latin typeface="Noto Sans"/>
              </a:rPr>
              <a:t>load &amp; wind forecasts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589520" y="3959352"/>
            <a:ext cx="20116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95959"/>
                </a:solidFill>
                <a:latin typeface="Noto Sans"/>
              </a:rPr>
              <a:t>unchanged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6446519" y="7315200"/>
            <a:ext cx="3200401" cy="0"/>
          </a:xfrm>
          <a:prstGeom prst="line">
            <a:avLst/>
          </a:prstGeom>
          <a:ln w="34925">
            <a:solidFill>
              <a:srgbClr val="FF31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6537959" y="6949440"/>
            <a:ext cx="30175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3131"/>
                </a:solidFill>
                <a:latin typeface="Noto Sans Bold"/>
              </a:rPr>
              <a:t>replaced by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4218920" y="7360920"/>
            <a:ext cx="37033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25400">
            <a:solidFill>
              <a:srgbClr val="000000"/>
            </a:solidFill>
          </a:ln>
          <a:effectLst>
            <a:outerShdw blurRad="63500" dist="50800" dir="27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356080" y="7424927"/>
            <a:ext cx="3429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Noto Sans Bold"/>
              </a:rPr>
              <a:t>(c) 1D → 2D imaging</a:t>
            </a:r>
          </a:p>
        </p:txBody>
      </p:sp>
      <p:pic>
        <p:nvPicPr>
          <p:cNvPr id="81" name="Picture 80" descr="gas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74368" y="7863840"/>
            <a:ext cx="1024128" cy="1024128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14237208" y="8961120"/>
            <a:ext cx="129844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Noto Sans Bold"/>
              </a:rPr>
              <a:t>GASF</a:t>
            </a:r>
          </a:p>
        </p:txBody>
      </p:sp>
      <p:pic>
        <p:nvPicPr>
          <p:cNvPr id="83" name="Picture 82" descr="gad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63088" y="7863840"/>
            <a:ext cx="1024128" cy="1024128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15425928" y="8961120"/>
            <a:ext cx="129844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Noto Sans Bold"/>
              </a:rPr>
              <a:t>GADF</a:t>
            </a:r>
          </a:p>
        </p:txBody>
      </p:sp>
      <p:pic>
        <p:nvPicPr>
          <p:cNvPr id="85" name="Picture 84" descr="fo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51808" y="7863840"/>
            <a:ext cx="1024128" cy="1024128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16614648" y="8961120"/>
            <a:ext cx="129844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Noto Sans Bold"/>
              </a:rPr>
              <a:t>Periodic fold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4310360" y="9281160"/>
            <a:ext cx="3520439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  <a:latin typeface="Noto Sans"/>
              </a:rPr>
              <a:t>168 h → 3 × 176 × 176 image</a:t>
            </a:r>
          </a:p>
        </p:txBody>
      </p:sp>
      <p:cxnSp>
        <p:nvCxnSpPr>
          <p:cNvPr id="88" name="Connector 87"/>
          <p:cNvCxnSpPr/>
          <p:nvPr/>
        </p:nvCxnSpPr>
        <p:spPr>
          <a:xfrm flipV="1">
            <a:off x="13167360" y="8412480"/>
            <a:ext cx="1051560" cy="246888"/>
          </a:xfrm>
          <a:prstGeom prst="line">
            <a:avLst/>
          </a:prstGeom>
          <a:ln w="25400">
            <a:solidFill>
              <a:srgbClr val="FFD21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14218920" y="4160520"/>
            <a:ext cx="3703320" cy="2880360"/>
          </a:xfrm>
          <a:prstGeom prst="roundRect">
            <a:avLst>
              <a:gd name="adj" fmla="val 2539"/>
            </a:avLst>
          </a:prstGeom>
          <a:solidFill>
            <a:srgbClr val="FFFFFF"/>
          </a:solidFill>
          <a:ln w="25400">
            <a:solidFill>
              <a:srgbClr val="000000"/>
            </a:solidFill>
          </a:ln>
          <a:effectLst>
            <a:outerShdw blurRad="63500" dist="50800" dir="27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4356080" y="4224528"/>
            <a:ext cx="3429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Noto Sans Bold"/>
              </a:rPr>
              <a:t>(d) Backbone output tokens</a:t>
            </a:r>
          </a:p>
        </p:txBody>
      </p:sp>
      <p:pic>
        <p:nvPicPr>
          <p:cNvPr id="91" name="Picture 90" descr="patche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01800" y="4709160"/>
            <a:ext cx="1737360" cy="173736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14310360" y="6492240"/>
            <a:ext cx="1920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Noto Sans"/>
              </a:rPr>
              <a:t>121 patches (11 × 11)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6322040" y="47548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8FA3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6870680" y="4754880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Noto Sans Bold"/>
              </a:rPr>
              <a:t>CLS: kept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6322040" y="54864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D9D9D9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16669512" y="54864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D9D9D9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17016984" y="54864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D9D9D9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17364456" y="54864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D9D9D9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9" name="Connector 98"/>
          <p:cNvCxnSpPr/>
          <p:nvPr/>
        </p:nvCxnSpPr>
        <p:spPr>
          <a:xfrm>
            <a:off x="16276320" y="5440680"/>
            <a:ext cx="1435608" cy="384048"/>
          </a:xfrm>
          <a:prstGeom prst="line">
            <a:avLst/>
          </a:prstGeom>
          <a:ln w="31750">
            <a:solidFill>
              <a:srgbClr val="FF31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16276320" y="5440680"/>
            <a:ext cx="1435608" cy="384048"/>
          </a:xfrm>
          <a:prstGeom prst="line">
            <a:avLst/>
          </a:prstGeom>
          <a:ln w="31750">
            <a:solidFill>
              <a:srgbClr val="FF31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16276320" y="5897880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3131"/>
                </a:solidFill>
                <a:latin typeface="Noto Sans Bold"/>
              </a:rPr>
              <a:t>4 registers:</a:t>
            </a:r>
          </a:p>
          <a:p>
            <a:pPr algn="l"/>
            <a:r>
              <a:rPr sz="1200" b="1" i="0">
                <a:solidFill>
                  <a:srgbClr val="FF3131"/>
                </a:solidFill>
                <a:latin typeface="Noto Sans Bold"/>
              </a:rPr>
              <a:t>dropped</a:t>
            </a:r>
          </a:p>
        </p:txBody>
      </p:sp>
      <p:cxnSp>
        <p:nvCxnSpPr>
          <p:cNvPr id="102" name="Connector 101"/>
          <p:cNvCxnSpPr/>
          <p:nvPr/>
        </p:nvCxnSpPr>
        <p:spPr>
          <a:xfrm flipV="1">
            <a:off x="13578840" y="6492240"/>
            <a:ext cx="640080" cy="320040"/>
          </a:xfrm>
          <a:prstGeom prst="line">
            <a:avLst/>
          </a:prstGeom>
          <a:ln w="25400">
            <a:solidFill>
              <a:srgbClr val="FFD21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ounded Rectangle 102"/>
          <p:cNvSpPr/>
          <p:nvPr/>
        </p:nvSpPr>
        <p:spPr>
          <a:xfrm>
            <a:off x="14218920" y="1600200"/>
            <a:ext cx="37033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25400">
            <a:solidFill>
              <a:srgbClr val="000000"/>
            </a:solidFill>
          </a:ln>
          <a:effectLst>
            <a:outerShdw blurRad="63500" dist="50800" dir="27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4356080" y="1664208"/>
            <a:ext cx="3429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Noto Sans Bold"/>
              </a:rPr>
              <a:t>(e) Change vs. (a)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4401800" y="2103120"/>
            <a:ext cx="3383279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oto Sans"/>
              </a:rPr>
              <a:t>Patch embedding + L encoder layers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Noto Sans"/>
              </a:rPr>
              <a:t>→ image + pretrained ViT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Noto Sans"/>
              </a:rPr>
              <a:t/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Noto Sans"/>
              </a:rPr>
              <a:t>Cross-attention in every layer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Noto Sans"/>
              </a:rPr>
              <a:t>→ once, after the backbone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Noto Sans"/>
              </a:rPr>
              <a:t/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Noto Sans"/>
              </a:rPr>
              <a:t>Loss, data, RevIN, exo embedding,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Noto Sans"/>
              </a:rPr>
              <a:t>projection: unchanged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411480" y="9930384"/>
            <a:ext cx="566928" cy="274320"/>
          </a:xfrm>
          <a:prstGeom prst="roundRect">
            <a:avLst>
              <a:gd name="adj" fmla="val 20000"/>
            </a:avLst>
          </a:prstGeom>
          <a:solidFill>
            <a:srgbClr val="FF3131"/>
          </a:solidFill>
          <a:ln w="12700">
            <a:solidFill>
              <a:srgbClr val="FF31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Bold"/>
              </a:rPr>
              <a:t>NEW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51560" y="9902952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oto Sans"/>
              </a:rPr>
              <a:t>new or replaced block</a:t>
            </a:r>
          </a:p>
        </p:txBody>
      </p:sp>
      <p:sp>
        <p:nvSpPr>
          <p:cNvPr id="108" name="Oval 107"/>
          <p:cNvSpPr/>
          <p:nvPr/>
        </p:nvSpPr>
        <p:spPr>
          <a:xfrm>
            <a:off x="3547872" y="9912096"/>
            <a:ext cx="310896" cy="310896"/>
          </a:xfrm>
          <a:prstGeom prst="ellipse">
            <a:avLst/>
          </a:prstGeom>
          <a:solidFill>
            <a:srgbClr val="FF3131"/>
          </a:solidFill>
          <a:ln w="25400">
            <a:solidFill>
              <a:srgbClr val="FFFFFF"/>
            </a:solidFill>
          </a:ln>
          <a:effectLst>
            <a:outerShdw blurRad="63500" dist="50800" dir="27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>
            <a:off x="3633368" y="9997592"/>
            <a:ext cx="139903" cy="139903"/>
          </a:xfrm>
          <a:prstGeom prst="line">
            <a:avLst/>
          </a:prstGeom>
          <a:ln w="444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3633368" y="9997592"/>
            <a:ext cx="139903" cy="139903"/>
          </a:xfrm>
          <a:prstGeom prst="line">
            <a:avLst/>
          </a:prstGeom>
          <a:ln w="444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3977639" y="9902952"/>
            <a:ext cx="2926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oto Sans"/>
              </a:rPr>
              <a:t>removed from TimeXer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6400800" y="10067544"/>
            <a:ext cx="640080" cy="0"/>
          </a:xfrm>
          <a:prstGeom prst="line">
            <a:avLst/>
          </a:prstGeom>
          <a:ln w="25400">
            <a:solidFill>
              <a:srgbClr val="FFD21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7132320" y="9902952"/>
            <a:ext cx="22860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oto Sans"/>
              </a:rPr>
              <a:t>zoom-in detail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